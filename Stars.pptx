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9" r:id="rId3"/>
    <p:sldId id="25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8" r:id="rId12"/>
    <p:sldId id="274" r:id="rId13"/>
    <p:sldId id="264" r:id="rId14"/>
    <p:sldId id="266" r:id="rId15"/>
    <p:sldId id="271" r:id="rId16"/>
    <p:sldId id="273" r:id="rId17"/>
    <p:sldId id="27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44CD"/>
    <a:srgbClr val="8E1C7C"/>
    <a:srgbClr val="FFFFFF"/>
    <a:srgbClr val="FFFF99"/>
    <a:srgbClr val="0070C0"/>
    <a:srgbClr val="8BC4E0"/>
    <a:srgbClr val="FFFF66"/>
    <a:srgbClr val="D58C2E"/>
    <a:srgbClr val="959595"/>
    <a:srgbClr val="2DA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8721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9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831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20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117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56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68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725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0640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9342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4813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50A3E-F01E-438A-8927-3D2E64A22365}" type="datetimeFigureOut">
              <a:rPr lang="en-AU" smtClean="0"/>
              <a:t>5/05/2020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B5BD5-3FDB-492E-9DDF-FA6C0CC820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26664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FC858E-FB60-409F-863B-322ABEB2B19E}"/>
              </a:ext>
            </a:extLst>
          </p:cNvPr>
          <p:cNvSpPr txBox="1"/>
          <p:nvPr/>
        </p:nvSpPr>
        <p:spPr>
          <a:xfrm>
            <a:off x="4016461" y="5928537"/>
            <a:ext cx="3906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n w="3175">
                  <a:noFill/>
                </a:ln>
                <a:latin typeface="Aharoni" panose="02010803020104030203" pitchFamily="2" charset="-79"/>
                <a:cs typeface="Aharoni" panose="02010803020104030203" pitchFamily="2" charset="-79"/>
              </a:rPr>
              <a:t>BIG BANG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21F5946-CACD-4140-A118-635B01F0F1C0}"/>
              </a:ext>
            </a:extLst>
          </p:cNvPr>
          <p:cNvGrpSpPr/>
          <p:nvPr/>
        </p:nvGrpSpPr>
        <p:grpSpPr>
          <a:xfrm>
            <a:off x="4077065" y="350419"/>
            <a:ext cx="3407496" cy="5543088"/>
            <a:chOff x="2688504" y="2732246"/>
            <a:chExt cx="6438787" cy="3488832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11522451-B1E4-4539-8BD5-82BD51EF5AB8}"/>
                </a:ext>
              </a:extLst>
            </p:cNvPr>
            <p:cNvSpPr/>
            <p:nvPr/>
          </p:nvSpPr>
          <p:spPr>
            <a:xfrm rot="10800000">
              <a:off x="3623483" y="5792356"/>
              <a:ext cx="4584148" cy="428722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EEBBFE6D-669C-4A76-949D-81F65069E045}"/>
                </a:ext>
              </a:extLst>
            </p:cNvPr>
            <p:cNvSpPr/>
            <p:nvPr/>
          </p:nvSpPr>
          <p:spPr>
            <a:xfrm rot="10800000">
              <a:off x="2688504" y="2732246"/>
              <a:ext cx="6438787" cy="3251948"/>
            </a:xfrm>
            <a:prstGeom prst="round2SameRect">
              <a:avLst>
                <a:gd name="adj1" fmla="val 37863"/>
                <a:gd name="adj2" fmla="val 0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5000">
                  <a:srgbClr val="FFFF00"/>
                </a:gs>
                <a:gs pos="30000">
                  <a:srgbClr val="FF9933"/>
                </a:gs>
                <a:gs pos="100000">
                  <a:schemeClr val="bg1"/>
                </a:gs>
                <a:gs pos="77000">
                  <a:srgbClr val="7030A0"/>
                </a:gs>
                <a:gs pos="61000">
                  <a:srgbClr val="002060"/>
                </a:gs>
                <a:gs pos="46000">
                  <a:srgbClr val="FF3300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6C52FF43-20E6-41BE-A406-C9DE77C9A9D7}"/>
              </a:ext>
            </a:extLst>
          </p:cNvPr>
          <p:cNvSpPr/>
          <p:nvPr/>
        </p:nvSpPr>
        <p:spPr>
          <a:xfrm>
            <a:off x="5593537" y="5024319"/>
            <a:ext cx="387350" cy="387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776C19-A56A-4F9F-AD87-6D5AE6F2E8AF}"/>
              </a:ext>
            </a:extLst>
          </p:cNvPr>
          <p:cNvSpPr/>
          <p:nvPr/>
        </p:nvSpPr>
        <p:spPr>
          <a:xfrm>
            <a:off x="6225340" y="4413607"/>
            <a:ext cx="387350" cy="387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B080BBF-A6C4-41A7-934D-54EB5826CE02}"/>
              </a:ext>
            </a:extLst>
          </p:cNvPr>
          <p:cNvSpPr/>
          <p:nvPr/>
        </p:nvSpPr>
        <p:spPr>
          <a:xfrm>
            <a:off x="5000401" y="4413607"/>
            <a:ext cx="387350" cy="387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FED25CB-21F0-4AAF-AA27-98F9BA46779F}"/>
              </a:ext>
            </a:extLst>
          </p:cNvPr>
          <p:cNvSpPr/>
          <p:nvPr/>
        </p:nvSpPr>
        <p:spPr>
          <a:xfrm>
            <a:off x="4421427" y="3546477"/>
            <a:ext cx="387350" cy="387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CB85191-1A31-4445-9449-4DB69E95BEB3}"/>
              </a:ext>
            </a:extLst>
          </p:cNvPr>
          <p:cNvSpPr/>
          <p:nvPr/>
        </p:nvSpPr>
        <p:spPr>
          <a:xfrm>
            <a:off x="5593537" y="3546477"/>
            <a:ext cx="387350" cy="387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0EDA07-56F9-42A2-BAEA-3953FB2D5686}"/>
              </a:ext>
            </a:extLst>
          </p:cNvPr>
          <p:cNvSpPr/>
          <p:nvPr/>
        </p:nvSpPr>
        <p:spPr>
          <a:xfrm>
            <a:off x="6765647" y="3546477"/>
            <a:ext cx="387350" cy="387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0B266D-ACDD-49C3-8ED5-C6F20F060CFC}"/>
              </a:ext>
            </a:extLst>
          </p:cNvPr>
          <p:cNvSpPr/>
          <p:nvPr/>
        </p:nvSpPr>
        <p:spPr>
          <a:xfrm>
            <a:off x="5446633" y="633673"/>
            <a:ext cx="681158" cy="681158"/>
          </a:xfrm>
          <a:prstGeom prst="ellipse">
            <a:avLst/>
          </a:prstGeom>
          <a:gradFill flip="none" rotWithShape="1">
            <a:gsLst>
              <a:gs pos="21000">
                <a:srgbClr val="FFFF00"/>
              </a:gs>
              <a:gs pos="0">
                <a:srgbClr val="FFCC00"/>
              </a:gs>
              <a:gs pos="100000">
                <a:srgbClr val="FFFF99"/>
              </a:gs>
            </a:gsLst>
            <a:lin ang="13500000" scaled="1"/>
            <a:tileRect/>
          </a:gra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E8B640C-0252-4D43-A2F0-F758361A0402}"/>
              </a:ext>
            </a:extLst>
          </p:cNvPr>
          <p:cNvSpPr/>
          <p:nvPr/>
        </p:nvSpPr>
        <p:spPr>
          <a:xfrm>
            <a:off x="4382885" y="2326191"/>
            <a:ext cx="387350" cy="387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7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6BE9A-11D7-45F5-A38A-8E3C91863C06}"/>
              </a:ext>
            </a:extLst>
          </p:cNvPr>
          <p:cNvSpPr/>
          <p:nvPr/>
        </p:nvSpPr>
        <p:spPr>
          <a:xfrm>
            <a:off x="5593537" y="2326191"/>
            <a:ext cx="387350" cy="387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8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BDD59BF-01B0-41E5-AA77-4698DCE8A925}"/>
              </a:ext>
            </a:extLst>
          </p:cNvPr>
          <p:cNvSpPr/>
          <p:nvPr/>
        </p:nvSpPr>
        <p:spPr>
          <a:xfrm>
            <a:off x="6804189" y="2326191"/>
            <a:ext cx="387350" cy="387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38186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BED0361-2B02-486D-818F-F66FDCC6D665}"/>
              </a:ext>
            </a:extLst>
          </p:cNvPr>
          <p:cNvGrpSpPr/>
          <p:nvPr/>
        </p:nvGrpSpPr>
        <p:grpSpPr>
          <a:xfrm>
            <a:off x="2816942" y="331838"/>
            <a:ext cx="6046839" cy="6046839"/>
            <a:chOff x="2816942" y="405580"/>
            <a:chExt cx="6046839" cy="604683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A7545D0-E83D-4AB5-9BB2-8C5BCBDF1E77}"/>
                </a:ext>
              </a:extLst>
            </p:cNvPr>
            <p:cNvSpPr/>
            <p:nvPr/>
          </p:nvSpPr>
          <p:spPr>
            <a:xfrm>
              <a:off x="2816942" y="405580"/>
              <a:ext cx="6046839" cy="6046839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lumMod val="95000"/>
                    <a:lumOff val="5000"/>
                  </a:schemeClr>
                </a:gs>
                <a:gs pos="8000">
                  <a:schemeClr val="bg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893812F-E906-42BD-A5B7-87523BD1DD51}"/>
                </a:ext>
              </a:extLst>
            </p:cNvPr>
            <p:cNvSpPr/>
            <p:nvPr/>
          </p:nvSpPr>
          <p:spPr>
            <a:xfrm>
              <a:off x="4568838" y="2026607"/>
              <a:ext cx="2766612" cy="2766612"/>
            </a:xfrm>
            <a:prstGeom prst="ellipse">
              <a:avLst/>
            </a:prstGeom>
            <a:gradFill flip="none" rotWithShape="1">
              <a:gsLst>
                <a:gs pos="0">
                  <a:srgbClr val="8E1C7C">
                    <a:alpha val="0"/>
                  </a:srgbClr>
                </a:gs>
                <a:gs pos="72000">
                  <a:srgbClr val="E844CD">
                    <a:shade val="67500"/>
                    <a:satMod val="115000"/>
                  </a:srgbClr>
                </a:gs>
                <a:gs pos="100000">
                  <a:srgbClr val="E844CD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FC858E-FB60-409F-863B-322ABEB2B19E}"/>
                </a:ext>
              </a:extLst>
            </p:cNvPr>
            <p:cNvSpPr txBox="1"/>
            <p:nvPr/>
          </p:nvSpPr>
          <p:spPr>
            <a:xfrm>
              <a:off x="4457054" y="848266"/>
              <a:ext cx="276661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4000" dirty="0">
                  <a:ln w="3175">
                    <a:solidFill>
                      <a:srgbClr val="E844CD"/>
                    </a:solidFill>
                  </a:ln>
                  <a:solidFill>
                    <a:srgbClr val="E844CD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NEBULA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5CFD84-7137-41A8-9CB0-5D2006132C89}"/>
                </a:ext>
              </a:extLst>
            </p:cNvPr>
            <p:cNvSpPr txBox="1"/>
            <p:nvPr/>
          </p:nvSpPr>
          <p:spPr>
            <a:xfrm>
              <a:off x="3442459" y="5361209"/>
              <a:ext cx="50193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solidFill>
                      <a:srgbClr val="E844CD"/>
                    </a:solidFill>
                  </a:ln>
                  <a:solidFill>
                    <a:srgbClr val="E844CD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The birthplace of stars.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409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BED0361-2B02-486D-818F-F66FDCC6D665}"/>
              </a:ext>
            </a:extLst>
          </p:cNvPr>
          <p:cNvGrpSpPr/>
          <p:nvPr/>
        </p:nvGrpSpPr>
        <p:grpSpPr>
          <a:xfrm>
            <a:off x="2816942" y="258096"/>
            <a:ext cx="6046839" cy="6046839"/>
            <a:chOff x="2816942" y="405580"/>
            <a:chExt cx="6046839" cy="604683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A7545D0-E83D-4AB5-9BB2-8C5BCBDF1E77}"/>
                </a:ext>
              </a:extLst>
            </p:cNvPr>
            <p:cNvSpPr/>
            <p:nvPr/>
          </p:nvSpPr>
          <p:spPr>
            <a:xfrm>
              <a:off x="2816942" y="405580"/>
              <a:ext cx="6046839" cy="6046839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lumMod val="95000"/>
                    <a:lumOff val="5000"/>
                  </a:schemeClr>
                </a:gs>
                <a:gs pos="8000">
                  <a:schemeClr val="bg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893812F-E906-42BD-A5B7-87523BD1DD51}"/>
                </a:ext>
              </a:extLst>
            </p:cNvPr>
            <p:cNvSpPr/>
            <p:nvPr/>
          </p:nvSpPr>
          <p:spPr>
            <a:xfrm>
              <a:off x="5267046" y="3018971"/>
              <a:ext cx="1146629" cy="114662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50000"/>
                    <a:shade val="30000"/>
                    <a:satMod val="115000"/>
                  </a:schemeClr>
                </a:gs>
                <a:gs pos="50000">
                  <a:schemeClr val="accent6">
                    <a:lumMod val="50000"/>
                    <a:shade val="67500"/>
                    <a:satMod val="115000"/>
                  </a:schemeClr>
                </a:gs>
                <a:gs pos="100000">
                  <a:schemeClr val="accent6">
                    <a:lumMod val="5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FC858E-FB60-409F-863B-322ABEB2B19E}"/>
                </a:ext>
              </a:extLst>
            </p:cNvPr>
            <p:cNvSpPr txBox="1"/>
            <p:nvPr/>
          </p:nvSpPr>
          <p:spPr>
            <a:xfrm>
              <a:off x="4457054" y="848266"/>
              <a:ext cx="276661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4000" dirty="0">
                  <a:ln w="3175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BROWN DWARF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5CFD84-7137-41A8-9CB0-5D2006132C89}"/>
                </a:ext>
              </a:extLst>
            </p:cNvPr>
            <p:cNvSpPr txBox="1"/>
            <p:nvPr/>
          </p:nvSpPr>
          <p:spPr>
            <a:xfrm>
              <a:off x="3442459" y="5361209"/>
              <a:ext cx="50193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solidFill>
                      <a:schemeClr val="accent6">
                        <a:lumMod val="50000"/>
                      </a:scheme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Why are you so bad at this?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439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E91D5A3-1ED3-4748-A6C8-D019ADFA645C}"/>
              </a:ext>
            </a:extLst>
          </p:cNvPr>
          <p:cNvGrpSpPr/>
          <p:nvPr/>
        </p:nvGrpSpPr>
        <p:grpSpPr>
          <a:xfrm>
            <a:off x="2816942" y="405580"/>
            <a:ext cx="6046839" cy="6046839"/>
            <a:chOff x="2816942" y="405580"/>
            <a:chExt cx="6046839" cy="604683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A7545D0-E83D-4AB5-9BB2-8C5BCBDF1E77}"/>
                </a:ext>
              </a:extLst>
            </p:cNvPr>
            <p:cNvSpPr/>
            <p:nvPr/>
          </p:nvSpPr>
          <p:spPr>
            <a:xfrm>
              <a:off x="2816942" y="405580"/>
              <a:ext cx="6046839" cy="6046839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lumMod val="95000"/>
                    <a:lumOff val="5000"/>
                  </a:schemeClr>
                </a:gs>
                <a:gs pos="8000">
                  <a:schemeClr val="bg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893812F-E906-42BD-A5B7-87523BD1DD51}"/>
                </a:ext>
              </a:extLst>
            </p:cNvPr>
            <p:cNvSpPr/>
            <p:nvPr/>
          </p:nvSpPr>
          <p:spPr>
            <a:xfrm>
              <a:off x="5164626" y="2753265"/>
              <a:ext cx="1351468" cy="1351468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41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solidFill>
                <a:schemeClr val="tx1">
                  <a:lumMod val="75000"/>
                </a:schemeClr>
              </a:solidFill>
            </a:ln>
            <a:effectLst>
              <a:glow rad="2286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5CFD84-7137-41A8-9CB0-5D2006132C89}"/>
                </a:ext>
              </a:extLst>
            </p:cNvPr>
            <p:cNvSpPr txBox="1"/>
            <p:nvPr/>
          </p:nvSpPr>
          <p:spPr>
            <a:xfrm>
              <a:off x="3330675" y="5065395"/>
              <a:ext cx="501937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solidFill>
                    <a:srgbClr val="E4202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The weakest and most common star. Also lives the longest.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A830E8-9B02-4668-A420-012D1B2AC613}"/>
                </a:ext>
              </a:extLst>
            </p:cNvPr>
            <p:cNvSpPr txBox="1"/>
            <p:nvPr/>
          </p:nvSpPr>
          <p:spPr>
            <a:xfrm>
              <a:off x="3849210" y="671429"/>
              <a:ext cx="39823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4800" dirty="0">
                  <a:ln w="3175">
                    <a:noFill/>
                  </a:ln>
                  <a:solidFill>
                    <a:srgbClr val="E4202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RED DWARF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33B3CD-779A-41DB-9036-05506B8C667B}"/>
                </a:ext>
              </a:extLst>
            </p:cNvPr>
            <p:cNvSpPr txBox="1"/>
            <p:nvPr/>
          </p:nvSpPr>
          <p:spPr>
            <a:xfrm>
              <a:off x="3330675" y="1552112"/>
              <a:ext cx="50193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solidFill>
                    <a:srgbClr val="E4202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Spectral Class: M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A5C7C5-851D-45E9-917A-019C549B1F87}"/>
                </a:ext>
              </a:extLst>
            </p:cNvPr>
            <p:cNvSpPr txBox="1"/>
            <p:nvPr/>
          </p:nvSpPr>
          <p:spPr>
            <a:xfrm>
              <a:off x="5191195" y="2109143"/>
              <a:ext cx="13248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solidFill>
                    <a:srgbClr val="E4202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0.6 </a:t>
              </a:r>
              <a:r>
                <a:rPr lang="en-AU" sz="2000" dirty="0">
                  <a:ln w="3175">
                    <a:noFill/>
                  </a:ln>
                  <a:solidFill>
                    <a:srgbClr val="E4202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</a:t>
              </a:r>
              <a:r>
                <a:rPr lang="en-AU" sz="2400" dirty="0">
                  <a:ln w="3175">
                    <a:noFill/>
                  </a:ln>
                  <a:solidFill>
                    <a:srgbClr val="E4202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☉</a:t>
              </a:r>
              <a:endParaRPr lang="en-AU" sz="2800" dirty="0">
                <a:ln w="3175">
                  <a:noFill/>
                </a:ln>
                <a:solidFill>
                  <a:srgbClr val="E42020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590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A3B1EC7-4230-47AD-AC3F-7A50B5EF9A00}"/>
              </a:ext>
            </a:extLst>
          </p:cNvPr>
          <p:cNvGrpSpPr/>
          <p:nvPr/>
        </p:nvGrpSpPr>
        <p:grpSpPr>
          <a:xfrm>
            <a:off x="2816942" y="405580"/>
            <a:ext cx="6046839" cy="6046839"/>
            <a:chOff x="2816942" y="405580"/>
            <a:chExt cx="6046839" cy="60468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8C88A5C-B064-4C7D-89B6-06F3ECA1E99C}"/>
                </a:ext>
              </a:extLst>
            </p:cNvPr>
            <p:cNvGrpSpPr/>
            <p:nvPr/>
          </p:nvGrpSpPr>
          <p:grpSpPr>
            <a:xfrm>
              <a:off x="2816942" y="405580"/>
              <a:ext cx="6046839" cy="6046839"/>
              <a:chOff x="2816942" y="405580"/>
              <a:chExt cx="6046839" cy="604683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A7545D0-E83D-4AB5-9BB2-8C5BCBDF1E77}"/>
                  </a:ext>
                </a:extLst>
              </p:cNvPr>
              <p:cNvSpPr/>
              <p:nvPr/>
            </p:nvSpPr>
            <p:spPr>
              <a:xfrm>
                <a:off x="2816942" y="405580"/>
                <a:ext cx="6046839" cy="6046839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  <a:lumOff val="5000"/>
                    </a:schemeClr>
                  </a:gs>
                  <a:gs pos="8000">
                    <a:schemeClr val="bg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93812F-E906-42BD-A5B7-87523BD1DD51}"/>
                  </a:ext>
                </a:extLst>
              </p:cNvPr>
              <p:cNvSpPr/>
              <p:nvPr/>
            </p:nvSpPr>
            <p:spPr>
              <a:xfrm>
                <a:off x="4980985" y="2748737"/>
                <a:ext cx="1718751" cy="1718751"/>
              </a:xfrm>
              <a:prstGeom prst="ellipse">
                <a:avLst/>
              </a:prstGeom>
              <a:gradFill flip="none" rotWithShape="1">
                <a:gsLst>
                  <a:gs pos="1000">
                    <a:srgbClr val="FF3300"/>
                  </a:gs>
                  <a:gs pos="48000">
                    <a:srgbClr val="FF6600"/>
                  </a:gs>
                  <a:gs pos="100000">
                    <a:srgbClr val="FF9933"/>
                  </a:gs>
                </a:gsLst>
                <a:lin ang="13500000" scaled="1"/>
                <a:tileRect/>
              </a:gradFill>
              <a:ln>
                <a:solidFill>
                  <a:schemeClr val="tx1">
                    <a:lumMod val="75000"/>
                  </a:schemeClr>
                </a:solidFill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C858E-FB60-409F-863B-322ABEB2B19E}"/>
                  </a:ext>
                </a:extLst>
              </p:cNvPr>
              <p:cNvSpPr txBox="1"/>
              <p:nvPr/>
            </p:nvSpPr>
            <p:spPr>
              <a:xfrm>
                <a:off x="3187639" y="869268"/>
                <a:ext cx="51665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800" dirty="0">
                    <a:ln w="3175">
                      <a:noFill/>
                    </a:ln>
                    <a:solidFill>
                      <a:schemeClr val="accent6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ORANGE DWARF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5CFD84-7137-41A8-9CB0-5D2006132C89}"/>
                  </a:ext>
                </a:extLst>
              </p:cNvPr>
              <p:cNvSpPr txBox="1"/>
              <p:nvPr/>
            </p:nvSpPr>
            <p:spPr>
              <a:xfrm>
                <a:off x="3442458" y="4992741"/>
                <a:ext cx="501937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chemeClr val="accent6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Second weakest star type. Good candidates for planetary systems.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4469B2-5725-4F85-A569-B499339F3794}"/>
                  </a:ext>
                </a:extLst>
              </p:cNvPr>
              <p:cNvSpPr txBox="1"/>
              <p:nvPr/>
            </p:nvSpPr>
            <p:spPr>
              <a:xfrm>
                <a:off x="3330676" y="1700265"/>
                <a:ext cx="50193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chemeClr val="accent6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Spectral Class: K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3CA210-FB33-4188-9418-5DFB75CDAC79}"/>
                </a:ext>
              </a:extLst>
            </p:cNvPr>
            <p:cNvSpPr txBox="1"/>
            <p:nvPr/>
          </p:nvSpPr>
          <p:spPr>
            <a:xfrm>
              <a:off x="5177910" y="2112126"/>
              <a:ext cx="13248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solidFill>
                    <a:srgbClr val="D58C2E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0.8 </a:t>
              </a:r>
              <a:r>
                <a:rPr lang="en-AU" sz="2000" dirty="0">
                  <a:ln w="3175">
                    <a:noFill/>
                  </a:ln>
                  <a:solidFill>
                    <a:srgbClr val="D58C2E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</a:t>
              </a:r>
              <a:r>
                <a:rPr lang="en-AU" sz="2400" dirty="0">
                  <a:ln w="3175">
                    <a:noFill/>
                  </a:ln>
                  <a:solidFill>
                    <a:srgbClr val="D58C2E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☉</a:t>
              </a:r>
              <a:endParaRPr lang="en-AU" sz="2800" dirty="0">
                <a:ln w="3175">
                  <a:noFill/>
                </a:ln>
                <a:solidFill>
                  <a:srgbClr val="D58C2E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41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59BF764-F5FA-44CC-A561-DC39CA11831F}"/>
              </a:ext>
            </a:extLst>
          </p:cNvPr>
          <p:cNvGrpSpPr/>
          <p:nvPr/>
        </p:nvGrpSpPr>
        <p:grpSpPr>
          <a:xfrm>
            <a:off x="2816942" y="405580"/>
            <a:ext cx="6046839" cy="6046839"/>
            <a:chOff x="2816942" y="405580"/>
            <a:chExt cx="6046839" cy="60468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1A86C2B-FA48-45D3-AA25-242B970D84CA}"/>
                </a:ext>
              </a:extLst>
            </p:cNvPr>
            <p:cNvGrpSpPr/>
            <p:nvPr/>
          </p:nvGrpSpPr>
          <p:grpSpPr>
            <a:xfrm>
              <a:off x="2816942" y="405580"/>
              <a:ext cx="6046839" cy="6046839"/>
              <a:chOff x="2816942" y="405580"/>
              <a:chExt cx="6046839" cy="604683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A7545D0-E83D-4AB5-9BB2-8C5BCBDF1E77}"/>
                  </a:ext>
                </a:extLst>
              </p:cNvPr>
              <p:cNvSpPr/>
              <p:nvPr/>
            </p:nvSpPr>
            <p:spPr>
              <a:xfrm>
                <a:off x="2816942" y="405580"/>
                <a:ext cx="6046839" cy="6046839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  <a:lumOff val="5000"/>
                    </a:schemeClr>
                  </a:gs>
                  <a:gs pos="8000">
                    <a:schemeClr val="bg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93812F-E906-42BD-A5B7-87523BD1DD51}"/>
                  </a:ext>
                </a:extLst>
              </p:cNvPr>
              <p:cNvSpPr/>
              <p:nvPr/>
            </p:nvSpPr>
            <p:spPr>
              <a:xfrm>
                <a:off x="4889545" y="2674633"/>
                <a:ext cx="1901631" cy="1901631"/>
              </a:xfrm>
              <a:prstGeom prst="ellipse">
                <a:avLst/>
              </a:prstGeom>
              <a:gradFill flip="none" rotWithShape="1">
                <a:gsLst>
                  <a:gs pos="21000">
                    <a:srgbClr val="FFFF00"/>
                  </a:gs>
                  <a:gs pos="0">
                    <a:srgbClr val="FFCC00"/>
                  </a:gs>
                  <a:gs pos="100000">
                    <a:srgbClr val="FFFF99"/>
                  </a:gs>
                </a:gsLst>
                <a:lin ang="13500000" scaled="1"/>
                <a:tileRect/>
              </a:gradFill>
              <a:ln>
                <a:solidFill>
                  <a:schemeClr val="tx1"/>
                </a:solidFill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C858E-FB60-409F-863B-322ABEB2B19E}"/>
                  </a:ext>
                </a:extLst>
              </p:cNvPr>
              <p:cNvSpPr txBox="1"/>
              <p:nvPr/>
            </p:nvSpPr>
            <p:spPr>
              <a:xfrm>
                <a:off x="3257109" y="850953"/>
                <a:ext cx="51665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800" b="1" dirty="0">
                    <a:ln w="3175">
                      <a:noFill/>
                    </a:ln>
                    <a:solidFill>
                      <a:srgbClr val="FFFF66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YELLOW DWARF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5CFD84-7137-41A8-9CB0-5D2006132C89}"/>
                  </a:ext>
                </a:extLst>
              </p:cNvPr>
              <p:cNvSpPr txBox="1"/>
              <p:nvPr/>
            </p:nvSpPr>
            <p:spPr>
              <a:xfrm>
                <a:off x="3442458" y="4992741"/>
                <a:ext cx="501937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b="1" dirty="0">
                    <a:ln w="3175">
                      <a:noFill/>
                    </a:ln>
                    <a:solidFill>
                      <a:srgbClr val="FFFF66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The class our Sun is in. It will grow to become a red giant at the end of its life.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4469B2-5725-4F85-A569-B499339F3794}"/>
                  </a:ext>
                </a:extLst>
              </p:cNvPr>
              <p:cNvSpPr txBox="1"/>
              <p:nvPr/>
            </p:nvSpPr>
            <p:spPr>
              <a:xfrm>
                <a:off x="3330676" y="1700264"/>
                <a:ext cx="50193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b="1" dirty="0">
                    <a:ln w="3175">
                      <a:noFill/>
                    </a:ln>
                    <a:solidFill>
                      <a:srgbClr val="FFFF66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Spectral Class: G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D44BAC4-2EE6-4563-A1F1-80C7DDD14518}"/>
                </a:ext>
              </a:extLst>
            </p:cNvPr>
            <p:cNvSpPr txBox="1"/>
            <p:nvPr/>
          </p:nvSpPr>
          <p:spPr>
            <a:xfrm>
              <a:off x="5177910" y="2052408"/>
              <a:ext cx="13248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solidFill>
                    <a:srgbClr val="FFFF66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1.15 </a:t>
              </a:r>
              <a:r>
                <a:rPr lang="en-AU" sz="2000" dirty="0">
                  <a:ln w="3175">
                    <a:noFill/>
                  </a:ln>
                  <a:solidFill>
                    <a:srgbClr val="FFFF66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</a:t>
              </a:r>
              <a:r>
                <a:rPr lang="en-AU" sz="2400" dirty="0">
                  <a:ln w="3175">
                    <a:noFill/>
                  </a:ln>
                  <a:solidFill>
                    <a:srgbClr val="FFFF66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☉</a:t>
              </a:r>
              <a:endParaRPr lang="en-AU" sz="2800" dirty="0">
                <a:ln w="3175">
                  <a:noFill/>
                </a:ln>
                <a:solidFill>
                  <a:srgbClr val="FFFF66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241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730246B-ACCA-4149-BFFE-BBACA7AB7AFD}"/>
              </a:ext>
            </a:extLst>
          </p:cNvPr>
          <p:cNvGrpSpPr/>
          <p:nvPr/>
        </p:nvGrpSpPr>
        <p:grpSpPr>
          <a:xfrm>
            <a:off x="2816942" y="405580"/>
            <a:ext cx="6046839" cy="6046839"/>
            <a:chOff x="2816942" y="405580"/>
            <a:chExt cx="6046839" cy="60468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E91D5A3-1ED3-4748-A6C8-D019ADFA645C}"/>
                </a:ext>
              </a:extLst>
            </p:cNvPr>
            <p:cNvGrpSpPr/>
            <p:nvPr/>
          </p:nvGrpSpPr>
          <p:grpSpPr>
            <a:xfrm>
              <a:off x="2816942" y="405580"/>
              <a:ext cx="6046839" cy="6046839"/>
              <a:chOff x="2816942" y="405580"/>
              <a:chExt cx="6046839" cy="604683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A7545D0-E83D-4AB5-9BB2-8C5BCBDF1E77}"/>
                  </a:ext>
                </a:extLst>
              </p:cNvPr>
              <p:cNvSpPr/>
              <p:nvPr/>
            </p:nvSpPr>
            <p:spPr>
              <a:xfrm>
                <a:off x="2816942" y="405580"/>
                <a:ext cx="6046839" cy="6046839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  <a:lumOff val="5000"/>
                    </a:schemeClr>
                  </a:gs>
                  <a:gs pos="8000">
                    <a:schemeClr val="bg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93812F-E906-42BD-A5B7-87523BD1DD51}"/>
                  </a:ext>
                </a:extLst>
              </p:cNvPr>
              <p:cNvSpPr/>
              <p:nvPr/>
            </p:nvSpPr>
            <p:spPr>
              <a:xfrm>
                <a:off x="4767625" y="2578265"/>
                <a:ext cx="2145471" cy="2145471"/>
              </a:xfrm>
              <a:prstGeom prst="ellipse">
                <a:avLst/>
              </a:prstGeom>
              <a:gradFill flip="none" rotWithShape="1">
                <a:gsLst>
                  <a:gs pos="19000">
                    <a:srgbClr val="FFCC66"/>
                  </a:gs>
                  <a:gs pos="52000">
                    <a:srgbClr val="FFFF66">
                      <a:tint val="44500"/>
                      <a:satMod val="160000"/>
                    </a:srgbClr>
                  </a:gs>
                  <a:gs pos="100000">
                    <a:srgbClr val="FFFF66">
                      <a:tint val="23500"/>
                      <a:satMod val="160000"/>
                    </a:srgbClr>
                  </a:gs>
                </a:gsLst>
                <a:lin ang="13500000" scaled="1"/>
                <a:tileRect/>
              </a:gradFill>
              <a:ln>
                <a:solidFill>
                  <a:schemeClr val="bg1"/>
                </a:solidFill>
              </a:ln>
              <a:effectLst>
                <a:glow rad="228600">
                  <a:srgbClr val="FFFF99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>
                  <a:solidFill>
                    <a:srgbClr val="FFFF99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5CFD84-7137-41A8-9CB0-5D2006132C89}"/>
                  </a:ext>
                </a:extLst>
              </p:cNvPr>
              <p:cNvSpPr txBox="1"/>
              <p:nvPr/>
            </p:nvSpPr>
            <p:spPr>
              <a:xfrm>
                <a:off x="3442458" y="4992741"/>
                <a:ext cx="501937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rgbClr val="FFFF99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star one spectral class above our Sun. Emits stronger UV radiation.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830E8-9B02-4668-A420-012D1B2AC613}"/>
                  </a:ext>
                </a:extLst>
              </p:cNvPr>
              <p:cNvSpPr txBox="1"/>
              <p:nvPr/>
            </p:nvSpPr>
            <p:spPr>
              <a:xfrm>
                <a:off x="3517370" y="955044"/>
                <a:ext cx="46459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800" dirty="0">
                    <a:ln w="3175">
                      <a:noFill/>
                    </a:ln>
                    <a:solidFill>
                      <a:srgbClr val="FFFF99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YELLOW-WHITE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33B3CD-779A-41DB-9036-05506B8C667B}"/>
                  </a:ext>
                </a:extLst>
              </p:cNvPr>
              <p:cNvSpPr txBox="1"/>
              <p:nvPr/>
            </p:nvSpPr>
            <p:spPr>
              <a:xfrm>
                <a:off x="3330673" y="1641810"/>
                <a:ext cx="50193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rgbClr val="FFFF99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Spectral Class: F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064C68-3F4B-4756-8D62-6C9E7E656948}"/>
                </a:ext>
              </a:extLst>
            </p:cNvPr>
            <p:cNvSpPr txBox="1"/>
            <p:nvPr/>
          </p:nvSpPr>
          <p:spPr>
            <a:xfrm>
              <a:off x="5177908" y="1980362"/>
              <a:ext cx="13248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solidFill>
                    <a:srgbClr val="FFFF99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1.4 </a:t>
              </a:r>
              <a:r>
                <a:rPr lang="en-AU" sz="2000" dirty="0">
                  <a:ln w="3175">
                    <a:noFill/>
                  </a:ln>
                  <a:solidFill>
                    <a:srgbClr val="FFFF99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</a:t>
              </a:r>
              <a:r>
                <a:rPr lang="en-AU" sz="2400" dirty="0">
                  <a:ln w="3175">
                    <a:noFill/>
                  </a:ln>
                  <a:solidFill>
                    <a:srgbClr val="FFFF99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☉</a:t>
              </a:r>
              <a:endParaRPr lang="en-AU" sz="2800" dirty="0">
                <a:ln w="3175">
                  <a:noFill/>
                </a:ln>
                <a:solidFill>
                  <a:srgbClr val="FFFF99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86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35B80E8-E83A-468B-AEB4-A6A4F24672A6}"/>
              </a:ext>
            </a:extLst>
          </p:cNvPr>
          <p:cNvGrpSpPr/>
          <p:nvPr/>
        </p:nvGrpSpPr>
        <p:grpSpPr>
          <a:xfrm>
            <a:off x="2816942" y="405580"/>
            <a:ext cx="6046839" cy="6046839"/>
            <a:chOff x="2816942" y="405580"/>
            <a:chExt cx="6046839" cy="60468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E91D5A3-1ED3-4748-A6C8-D019ADFA645C}"/>
                </a:ext>
              </a:extLst>
            </p:cNvPr>
            <p:cNvGrpSpPr/>
            <p:nvPr/>
          </p:nvGrpSpPr>
          <p:grpSpPr>
            <a:xfrm>
              <a:off x="2816942" y="405580"/>
              <a:ext cx="6046839" cy="6046839"/>
              <a:chOff x="2816942" y="405580"/>
              <a:chExt cx="6046839" cy="604683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A7545D0-E83D-4AB5-9BB2-8C5BCBDF1E77}"/>
                  </a:ext>
                </a:extLst>
              </p:cNvPr>
              <p:cNvSpPr/>
              <p:nvPr/>
            </p:nvSpPr>
            <p:spPr>
              <a:xfrm>
                <a:off x="2816942" y="405580"/>
                <a:ext cx="6046839" cy="6046839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  <a:lumOff val="5000"/>
                    </a:schemeClr>
                  </a:gs>
                  <a:gs pos="8000">
                    <a:schemeClr val="bg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93812F-E906-42BD-A5B7-87523BD1DD51}"/>
                  </a:ext>
                </a:extLst>
              </p:cNvPr>
              <p:cNvSpPr/>
              <p:nvPr/>
            </p:nvSpPr>
            <p:spPr>
              <a:xfrm>
                <a:off x="4717712" y="2537144"/>
                <a:ext cx="2245295" cy="2245295"/>
              </a:xfrm>
              <a:prstGeom prst="ellipse">
                <a:avLst/>
              </a:prstGeom>
              <a:gradFill flip="none" rotWithShape="1">
                <a:gsLst>
                  <a:gs pos="16000">
                    <a:schemeClr val="tx1">
                      <a:lumMod val="50000"/>
                    </a:schemeClr>
                  </a:gs>
                  <a:gs pos="54000">
                    <a:schemeClr val="tx1">
                      <a:shade val="67500"/>
                      <a:satMod val="115000"/>
                    </a:schemeClr>
                  </a:gs>
                  <a:gs pos="100000">
                    <a:schemeClr val="tx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>
                <a:solidFill>
                  <a:schemeClr val="bg1"/>
                </a:solidFill>
              </a:ln>
              <a:effectLst>
                <a:glow rad="228600">
                  <a:srgbClr val="FFFFFF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5CFD84-7137-41A8-9CB0-5D2006132C89}"/>
                  </a:ext>
                </a:extLst>
              </p:cNvPr>
              <p:cNvSpPr txBox="1"/>
              <p:nvPr/>
            </p:nvSpPr>
            <p:spPr>
              <a:xfrm>
                <a:off x="3442458" y="4992741"/>
                <a:ext cx="501937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latin typeface="Aharoni" panose="02010803020104030203" pitchFamily="2" charset="-79"/>
                    <a:cs typeface="Aharoni" panose="02010803020104030203" pitchFamily="2" charset="-79"/>
                  </a:rPr>
                  <a:t>A hot and luminous star type. Includes stars such as Sirius and Vega.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830E8-9B02-4668-A420-012D1B2AC613}"/>
                  </a:ext>
                </a:extLst>
              </p:cNvPr>
              <p:cNvSpPr txBox="1"/>
              <p:nvPr/>
            </p:nvSpPr>
            <p:spPr>
              <a:xfrm>
                <a:off x="3517371" y="771115"/>
                <a:ext cx="46459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800" dirty="0">
                    <a:ln w="3175">
                      <a:noFill/>
                    </a:ln>
                    <a:latin typeface="Aharoni" panose="02010803020104030203" pitchFamily="2" charset="-79"/>
                    <a:cs typeface="Aharoni" panose="02010803020104030203" pitchFamily="2" charset="-79"/>
                  </a:rPr>
                  <a:t>WHITE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33B3CD-779A-41DB-9036-05506B8C667B}"/>
                  </a:ext>
                </a:extLst>
              </p:cNvPr>
              <p:cNvSpPr txBox="1"/>
              <p:nvPr/>
            </p:nvSpPr>
            <p:spPr>
              <a:xfrm>
                <a:off x="3330674" y="1602112"/>
                <a:ext cx="50193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latin typeface="Aharoni" panose="02010803020104030203" pitchFamily="2" charset="-79"/>
                    <a:cs typeface="Aharoni" panose="02010803020104030203" pitchFamily="2" charset="-79"/>
                  </a:rPr>
                  <a:t>Spectral Class: A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6DE0AF-9F35-494A-AB56-EC87470AFD8B}"/>
                </a:ext>
              </a:extLst>
            </p:cNvPr>
            <p:cNvSpPr txBox="1"/>
            <p:nvPr/>
          </p:nvSpPr>
          <p:spPr>
            <a:xfrm>
              <a:off x="5177909" y="2013924"/>
              <a:ext cx="13248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2.1 </a:t>
              </a:r>
              <a:r>
                <a:rPr lang="en-AU" sz="2000" dirty="0">
                  <a:ln w="3175">
                    <a:noFill/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M</a:t>
              </a:r>
              <a:r>
                <a:rPr lang="en-AU" sz="2400" dirty="0">
                  <a:ln w="3175">
                    <a:noFill/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☉</a:t>
              </a:r>
              <a:endParaRPr lang="en-AU" sz="2800" dirty="0">
                <a:ln w="3175">
                  <a:noFill/>
                </a:ln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94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BED0361-2B02-486D-818F-F66FDCC6D665}"/>
              </a:ext>
            </a:extLst>
          </p:cNvPr>
          <p:cNvGrpSpPr/>
          <p:nvPr/>
        </p:nvGrpSpPr>
        <p:grpSpPr>
          <a:xfrm>
            <a:off x="2816942" y="405580"/>
            <a:ext cx="6046839" cy="6046839"/>
            <a:chOff x="2816942" y="405580"/>
            <a:chExt cx="6046839" cy="604683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A7545D0-E83D-4AB5-9BB2-8C5BCBDF1E77}"/>
                </a:ext>
              </a:extLst>
            </p:cNvPr>
            <p:cNvSpPr/>
            <p:nvPr/>
          </p:nvSpPr>
          <p:spPr>
            <a:xfrm>
              <a:off x="2816942" y="405580"/>
              <a:ext cx="6046839" cy="6046839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lumMod val="95000"/>
                    <a:lumOff val="5000"/>
                  </a:schemeClr>
                </a:gs>
                <a:gs pos="8000">
                  <a:schemeClr val="bg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893812F-E906-42BD-A5B7-87523BD1DD51}"/>
                </a:ext>
              </a:extLst>
            </p:cNvPr>
            <p:cNvSpPr/>
            <p:nvPr/>
          </p:nvSpPr>
          <p:spPr>
            <a:xfrm>
              <a:off x="5517769" y="3060700"/>
              <a:ext cx="736600" cy="73660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shade val="30000"/>
                    <a:satMod val="115000"/>
                  </a:schemeClr>
                </a:gs>
                <a:gs pos="50000">
                  <a:schemeClr val="tx1">
                    <a:shade val="67500"/>
                    <a:satMod val="115000"/>
                  </a:schemeClr>
                </a:gs>
                <a:gs pos="100000">
                  <a:schemeClr val="tx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solidFill>
                <a:schemeClr val="tx1">
                  <a:lumMod val="75000"/>
                </a:schemeClr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FC858E-FB60-409F-863B-322ABEB2B19E}"/>
                </a:ext>
              </a:extLst>
            </p:cNvPr>
            <p:cNvSpPr txBox="1"/>
            <p:nvPr/>
          </p:nvSpPr>
          <p:spPr>
            <a:xfrm>
              <a:off x="3954088" y="795694"/>
              <a:ext cx="37725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4000" dirty="0">
                  <a:ln w="3175">
                    <a:solidFill>
                      <a:schemeClr val="tx1"/>
                    </a:solidFill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WHITE DWARF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5CFD84-7137-41A8-9CB0-5D2006132C89}"/>
                </a:ext>
              </a:extLst>
            </p:cNvPr>
            <p:cNvSpPr txBox="1"/>
            <p:nvPr/>
          </p:nvSpPr>
          <p:spPr>
            <a:xfrm>
              <a:off x="3442459" y="5361209"/>
              <a:ext cx="50193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The heart of a low mass star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5411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ED5329D-0D85-4388-A2F5-7D3902992BB6}"/>
              </a:ext>
            </a:extLst>
          </p:cNvPr>
          <p:cNvGrpSpPr/>
          <p:nvPr/>
        </p:nvGrpSpPr>
        <p:grpSpPr>
          <a:xfrm>
            <a:off x="2816942" y="405580"/>
            <a:ext cx="6046839" cy="6046839"/>
            <a:chOff x="2816942" y="405580"/>
            <a:chExt cx="6046839" cy="60468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E91D5A3-1ED3-4748-A6C8-D019ADFA645C}"/>
                </a:ext>
              </a:extLst>
            </p:cNvPr>
            <p:cNvGrpSpPr/>
            <p:nvPr/>
          </p:nvGrpSpPr>
          <p:grpSpPr>
            <a:xfrm>
              <a:off x="2816942" y="405580"/>
              <a:ext cx="6046839" cy="6046839"/>
              <a:chOff x="2816942" y="405580"/>
              <a:chExt cx="6046839" cy="604683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A7545D0-E83D-4AB5-9BB2-8C5BCBDF1E77}"/>
                  </a:ext>
                </a:extLst>
              </p:cNvPr>
              <p:cNvSpPr/>
              <p:nvPr/>
            </p:nvSpPr>
            <p:spPr>
              <a:xfrm>
                <a:off x="2816942" y="405580"/>
                <a:ext cx="6046839" cy="6046839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  <a:lumOff val="5000"/>
                    </a:schemeClr>
                  </a:gs>
                  <a:gs pos="8000">
                    <a:schemeClr val="bg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93812F-E906-42BD-A5B7-87523BD1DD51}"/>
                  </a:ext>
                </a:extLst>
              </p:cNvPr>
              <p:cNvSpPr/>
              <p:nvPr/>
            </p:nvSpPr>
            <p:spPr>
              <a:xfrm>
                <a:off x="4704145" y="2403005"/>
                <a:ext cx="2495991" cy="2495991"/>
              </a:xfrm>
              <a:prstGeom prst="ellipse">
                <a:avLst/>
              </a:prstGeom>
              <a:gradFill flip="none" rotWithShape="1">
                <a:gsLst>
                  <a:gs pos="33000">
                    <a:srgbClr val="00B0F0">
                      <a:tint val="66000"/>
                      <a:satMod val="160000"/>
                    </a:srgbClr>
                  </a:gs>
                  <a:gs pos="55000">
                    <a:srgbClr val="00B0F0">
                      <a:tint val="44500"/>
                      <a:satMod val="160000"/>
                    </a:srgbClr>
                  </a:gs>
                  <a:gs pos="100000">
                    <a:srgbClr val="00B0F0">
                      <a:tint val="23500"/>
                      <a:satMod val="160000"/>
                    </a:srgbClr>
                  </a:gs>
                </a:gsLst>
                <a:lin ang="13500000" scaled="1"/>
                <a:tileRect/>
              </a:gradFill>
              <a:ln>
                <a:solidFill>
                  <a:schemeClr val="bg1"/>
                </a:solidFill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5CFD84-7137-41A8-9CB0-5D2006132C89}"/>
                  </a:ext>
                </a:extLst>
              </p:cNvPr>
              <p:cNvSpPr txBox="1"/>
              <p:nvPr/>
            </p:nvSpPr>
            <p:spPr>
              <a:xfrm>
                <a:off x="3442458" y="4992741"/>
                <a:ext cx="501937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star with very strong stellar winds. Can become a supernova when it dies.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830E8-9B02-4668-A420-012D1B2AC613}"/>
                  </a:ext>
                </a:extLst>
              </p:cNvPr>
              <p:cNvSpPr txBox="1"/>
              <p:nvPr/>
            </p:nvSpPr>
            <p:spPr>
              <a:xfrm>
                <a:off x="3629152" y="733042"/>
                <a:ext cx="46459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800" dirty="0">
                    <a:ln w="3175">
                      <a:noFill/>
                    </a:ln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BLUE-WHITE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33B3CD-779A-41DB-9036-05506B8C667B}"/>
                  </a:ext>
                </a:extLst>
              </p:cNvPr>
              <p:cNvSpPr txBox="1"/>
              <p:nvPr/>
            </p:nvSpPr>
            <p:spPr>
              <a:xfrm>
                <a:off x="3442455" y="1533009"/>
                <a:ext cx="50193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Spectral Class: B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174D6F-73A7-407C-A202-D685C84C1314}"/>
                </a:ext>
              </a:extLst>
            </p:cNvPr>
            <p:cNvSpPr txBox="1"/>
            <p:nvPr/>
          </p:nvSpPr>
          <p:spPr>
            <a:xfrm>
              <a:off x="5330192" y="1921593"/>
              <a:ext cx="13248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solidFill>
                    <a:srgbClr val="8BC4E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16 </a:t>
              </a:r>
              <a:r>
                <a:rPr lang="en-AU" sz="2000" dirty="0">
                  <a:ln w="3175">
                    <a:noFill/>
                  </a:ln>
                  <a:solidFill>
                    <a:srgbClr val="8BC4E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</a:t>
              </a:r>
              <a:r>
                <a:rPr lang="en-AU" sz="2400" dirty="0">
                  <a:ln w="3175">
                    <a:noFill/>
                  </a:ln>
                  <a:solidFill>
                    <a:srgbClr val="8BC4E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☉</a:t>
              </a:r>
              <a:endParaRPr lang="en-AU" sz="2800" dirty="0">
                <a:ln w="3175">
                  <a:noFill/>
                </a:ln>
                <a:solidFill>
                  <a:srgbClr val="8BC4E0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9699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8C02D9-1CFD-4D83-A01A-999C2054972F}"/>
              </a:ext>
            </a:extLst>
          </p:cNvPr>
          <p:cNvGrpSpPr/>
          <p:nvPr/>
        </p:nvGrpSpPr>
        <p:grpSpPr>
          <a:xfrm>
            <a:off x="2816942" y="331838"/>
            <a:ext cx="6046839" cy="6046839"/>
            <a:chOff x="2816942" y="331838"/>
            <a:chExt cx="6046839" cy="604683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A7545D0-E83D-4AB5-9BB2-8C5BCBDF1E77}"/>
                </a:ext>
              </a:extLst>
            </p:cNvPr>
            <p:cNvSpPr/>
            <p:nvPr/>
          </p:nvSpPr>
          <p:spPr>
            <a:xfrm>
              <a:off x="2816942" y="331838"/>
              <a:ext cx="6046839" cy="6046839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lumMod val="95000"/>
                    <a:lumOff val="5000"/>
                  </a:schemeClr>
                </a:gs>
                <a:gs pos="8000">
                  <a:schemeClr val="bg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FC858E-FB60-409F-863B-322ABEB2B19E}"/>
                </a:ext>
              </a:extLst>
            </p:cNvPr>
            <p:cNvSpPr txBox="1"/>
            <p:nvPr/>
          </p:nvSpPr>
          <p:spPr>
            <a:xfrm>
              <a:off x="3883681" y="973571"/>
              <a:ext cx="40047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4000" dirty="0">
                  <a:ln w="3175">
                    <a:solidFill>
                      <a:schemeClr val="tx1"/>
                    </a:solidFill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NEUTRON STAR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5CFD84-7137-41A8-9CB0-5D2006132C89}"/>
                </a:ext>
              </a:extLst>
            </p:cNvPr>
            <p:cNvSpPr txBox="1"/>
            <p:nvPr/>
          </p:nvSpPr>
          <p:spPr>
            <a:xfrm>
              <a:off x="3406877" y="5361209"/>
              <a:ext cx="50549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The heart of a high mass star</a:t>
              </a:r>
            </a:p>
          </p:txBody>
        </p:sp>
        <p:sp>
          <p:nvSpPr>
            <p:cNvPr id="14" name="Flowchart: Collate 13">
              <a:extLst>
                <a:ext uri="{FF2B5EF4-FFF2-40B4-BE49-F238E27FC236}">
                  <a16:creationId xmlns:a16="http://schemas.microsoft.com/office/drawing/2014/main" id="{5C3EF6CB-6210-4E74-9AF5-E905A0752473}"/>
                </a:ext>
              </a:extLst>
            </p:cNvPr>
            <p:cNvSpPr/>
            <p:nvPr/>
          </p:nvSpPr>
          <p:spPr>
            <a:xfrm rot="19585064">
              <a:off x="5655911" y="2005779"/>
              <a:ext cx="368899" cy="2846439"/>
            </a:xfrm>
            <a:prstGeom prst="flowChartCollate">
              <a:avLst/>
            </a:prstGeom>
            <a:gradFill flip="none" rotWithShape="1">
              <a:gsLst>
                <a:gs pos="100000">
                  <a:srgbClr val="FFFFFF">
                    <a:alpha val="0"/>
                  </a:srgbClr>
                </a:gs>
                <a:gs pos="50000">
                  <a:schemeClr val="tx1"/>
                </a:gs>
                <a:gs pos="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893812F-E906-42BD-A5B7-87523BD1DD51}"/>
                </a:ext>
              </a:extLst>
            </p:cNvPr>
            <p:cNvSpPr/>
            <p:nvPr/>
          </p:nvSpPr>
          <p:spPr>
            <a:xfrm>
              <a:off x="5472061" y="3060699"/>
              <a:ext cx="736600" cy="736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723131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8C02D9-1CFD-4D83-A01A-999C2054972F}"/>
              </a:ext>
            </a:extLst>
          </p:cNvPr>
          <p:cNvGrpSpPr/>
          <p:nvPr/>
        </p:nvGrpSpPr>
        <p:grpSpPr>
          <a:xfrm>
            <a:off x="2816942" y="331838"/>
            <a:ext cx="6046839" cy="6046839"/>
            <a:chOff x="2816942" y="331838"/>
            <a:chExt cx="6046839" cy="604683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A7545D0-E83D-4AB5-9BB2-8C5BCBDF1E77}"/>
                </a:ext>
              </a:extLst>
            </p:cNvPr>
            <p:cNvSpPr/>
            <p:nvPr/>
          </p:nvSpPr>
          <p:spPr>
            <a:xfrm>
              <a:off x="2816942" y="331838"/>
              <a:ext cx="6046839" cy="6046839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lumMod val="95000"/>
                    <a:lumOff val="5000"/>
                  </a:schemeClr>
                </a:gs>
                <a:gs pos="8000">
                  <a:schemeClr val="bg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FC858E-FB60-409F-863B-322ABEB2B19E}"/>
                </a:ext>
              </a:extLst>
            </p:cNvPr>
            <p:cNvSpPr txBox="1"/>
            <p:nvPr/>
          </p:nvSpPr>
          <p:spPr>
            <a:xfrm>
              <a:off x="3883681" y="973571"/>
              <a:ext cx="40047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4000" dirty="0">
                  <a:ln w="3175">
                    <a:solidFill>
                      <a:schemeClr val="tx1"/>
                    </a:solidFill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QUARK STAR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5CFD84-7137-41A8-9CB0-5D2006132C89}"/>
                </a:ext>
              </a:extLst>
            </p:cNvPr>
            <p:cNvSpPr txBox="1"/>
            <p:nvPr/>
          </p:nvSpPr>
          <p:spPr>
            <a:xfrm>
              <a:off x="3406877" y="5361209"/>
              <a:ext cx="505495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A core so dense it forms a quark-gluon plasma</a:t>
              </a:r>
            </a:p>
          </p:txBody>
        </p:sp>
        <p:sp>
          <p:nvSpPr>
            <p:cNvPr id="14" name="Flowchart: Collate 13">
              <a:extLst>
                <a:ext uri="{FF2B5EF4-FFF2-40B4-BE49-F238E27FC236}">
                  <a16:creationId xmlns:a16="http://schemas.microsoft.com/office/drawing/2014/main" id="{5C3EF6CB-6210-4E74-9AF5-E905A0752473}"/>
                </a:ext>
              </a:extLst>
            </p:cNvPr>
            <p:cNvSpPr/>
            <p:nvPr/>
          </p:nvSpPr>
          <p:spPr>
            <a:xfrm rot="2491432">
              <a:off x="5655911" y="2005779"/>
              <a:ext cx="368899" cy="2846439"/>
            </a:xfrm>
            <a:prstGeom prst="flowChartCollate">
              <a:avLst/>
            </a:prstGeom>
            <a:gradFill flip="none" rotWithShape="1">
              <a:gsLst>
                <a:gs pos="100000">
                  <a:srgbClr val="FFFFFF">
                    <a:alpha val="0"/>
                  </a:srgbClr>
                </a:gs>
                <a:gs pos="43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2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893812F-E906-42BD-A5B7-87523BD1DD51}"/>
                </a:ext>
              </a:extLst>
            </p:cNvPr>
            <p:cNvSpPr/>
            <p:nvPr/>
          </p:nvSpPr>
          <p:spPr>
            <a:xfrm>
              <a:off x="5472061" y="3060699"/>
              <a:ext cx="736600" cy="736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  <a:effectLst>
              <a:glow rad="2286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38268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A10F8D4-2BA6-4E3E-A931-EF545E492FB1}"/>
              </a:ext>
            </a:extLst>
          </p:cNvPr>
          <p:cNvGrpSpPr/>
          <p:nvPr/>
        </p:nvGrpSpPr>
        <p:grpSpPr>
          <a:xfrm>
            <a:off x="2816942" y="405580"/>
            <a:ext cx="6046839" cy="6046839"/>
            <a:chOff x="2816942" y="405580"/>
            <a:chExt cx="6046839" cy="60468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E91D5A3-1ED3-4748-A6C8-D019ADFA645C}"/>
                </a:ext>
              </a:extLst>
            </p:cNvPr>
            <p:cNvGrpSpPr/>
            <p:nvPr/>
          </p:nvGrpSpPr>
          <p:grpSpPr>
            <a:xfrm>
              <a:off x="2816942" y="405580"/>
              <a:ext cx="6046839" cy="6046839"/>
              <a:chOff x="2816942" y="405580"/>
              <a:chExt cx="6046839" cy="604683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A7545D0-E83D-4AB5-9BB2-8C5BCBDF1E77}"/>
                  </a:ext>
                </a:extLst>
              </p:cNvPr>
              <p:cNvSpPr/>
              <p:nvPr/>
            </p:nvSpPr>
            <p:spPr>
              <a:xfrm>
                <a:off x="2816942" y="405580"/>
                <a:ext cx="6046839" cy="6046839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  <a:lumOff val="5000"/>
                    </a:schemeClr>
                  </a:gs>
                  <a:gs pos="8000">
                    <a:schemeClr val="bg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93812F-E906-42BD-A5B7-87523BD1DD51}"/>
                  </a:ext>
                </a:extLst>
              </p:cNvPr>
              <p:cNvSpPr/>
              <p:nvPr/>
            </p:nvSpPr>
            <p:spPr>
              <a:xfrm>
                <a:off x="4639347" y="2281473"/>
                <a:ext cx="2682305" cy="2682305"/>
              </a:xfrm>
              <a:prstGeom prst="ellipse">
                <a:avLst/>
              </a:prstGeom>
              <a:gradFill flip="none" rotWithShape="1">
                <a:gsLst>
                  <a:gs pos="28000">
                    <a:srgbClr val="0066FF"/>
                  </a:gs>
                  <a:gs pos="49000">
                    <a:srgbClr val="2DA5FF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>
                <a:solidFill>
                  <a:schemeClr val="tx1">
                    <a:lumMod val="75000"/>
                  </a:schemeClr>
                </a:solidFill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5CFD84-7137-41A8-9CB0-5D2006132C89}"/>
                  </a:ext>
                </a:extLst>
              </p:cNvPr>
              <p:cNvSpPr txBox="1"/>
              <p:nvPr/>
            </p:nvSpPr>
            <p:spPr>
              <a:xfrm>
                <a:off x="3470813" y="5067424"/>
                <a:ext cx="501937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rgbClr val="0070C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The brightest and rarest star type. Loses mass and energy very quickly.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830E8-9B02-4668-A420-012D1B2AC613}"/>
                  </a:ext>
                </a:extLst>
              </p:cNvPr>
              <p:cNvSpPr txBox="1"/>
              <p:nvPr/>
            </p:nvSpPr>
            <p:spPr>
              <a:xfrm>
                <a:off x="3629152" y="733042"/>
                <a:ext cx="46459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800" dirty="0">
                    <a:ln w="3175">
                      <a:noFill/>
                    </a:ln>
                    <a:solidFill>
                      <a:srgbClr val="0070C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BLUE GIANT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33B3CD-779A-41DB-9036-05506B8C667B}"/>
                  </a:ext>
                </a:extLst>
              </p:cNvPr>
              <p:cNvSpPr txBox="1"/>
              <p:nvPr/>
            </p:nvSpPr>
            <p:spPr>
              <a:xfrm>
                <a:off x="3470814" y="1399536"/>
                <a:ext cx="50193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rgbClr val="0070C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Spectral Class: O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3C5C27-450C-4A01-867E-7A880259AC9F}"/>
                </a:ext>
              </a:extLst>
            </p:cNvPr>
            <p:cNvSpPr txBox="1"/>
            <p:nvPr/>
          </p:nvSpPr>
          <p:spPr>
            <a:xfrm>
              <a:off x="5318049" y="1755102"/>
              <a:ext cx="13248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solidFill>
                    <a:srgbClr val="0070C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90 </a:t>
              </a:r>
              <a:r>
                <a:rPr lang="en-AU" sz="2000" dirty="0">
                  <a:ln w="3175">
                    <a:noFill/>
                  </a:ln>
                  <a:solidFill>
                    <a:srgbClr val="0070C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</a:t>
              </a:r>
              <a:r>
                <a:rPr lang="en-AU" sz="2400" dirty="0">
                  <a:ln w="3175">
                    <a:noFill/>
                  </a:ln>
                  <a:solidFill>
                    <a:srgbClr val="0070C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☉</a:t>
              </a:r>
              <a:endParaRPr lang="en-AU" sz="2800" dirty="0">
                <a:ln w="3175">
                  <a:noFill/>
                </a:ln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5048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561163E-C360-4306-A3E7-7CB3955D8E23}"/>
              </a:ext>
            </a:extLst>
          </p:cNvPr>
          <p:cNvGrpSpPr/>
          <p:nvPr/>
        </p:nvGrpSpPr>
        <p:grpSpPr>
          <a:xfrm>
            <a:off x="2816941" y="331836"/>
            <a:ext cx="6046840" cy="6046841"/>
            <a:chOff x="2816941" y="331836"/>
            <a:chExt cx="6046840" cy="604684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E91D5A3-1ED3-4748-A6C8-D019ADFA645C}"/>
                </a:ext>
              </a:extLst>
            </p:cNvPr>
            <p:cNvGrpSpPr/>
            <p:nvPr/>
          </p:nvGrpSpPr>
          <p:grpSpPr>
            <a:xfrm>
              <a:off x="2816942" y="331838"/>
              <a:ext cx="6046839" cy="6046839"/>
              <a:chOff x="2816942" y="405580"/>
              <a:chExt cx="6046839" cy="604683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A7545D0-E83D-4AB5-9BB2-8C5BCBDF1E77}"/>
                  </a:ext>
                </a:extLst>
              </p:cNvPr>
              <p:cNvSpPr/>
              <p:nvPr/>
            </p:nvSpPr>
            <p:spPr>
              <a:xfrm>
                <a:off x="2816942" y="405580"/>
                <a:ext cx="6046839" cy="6046839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  <a:lumOff val="5000"/>
                    </a:schemeClr>
                  </a:gs>
                  <a:gs pos="8000">
                    <a:schemeClr val="bg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B1D9474-2AC6-4738-82A0-C2DE8F313272}"/>
                  </a:ext>
                </a:extLst>
              </p:cNvPr>
              <p:cNvSpPr/>
              <p:nvPr/>
            </p:nvSpPr>
            <p:spPr>
              <a:xfrm>
                <a:off x="5032626" y="2528595"/>
                <a:ext cx="1800807" cy="1800807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shade val="30000"/>
                      <a:satMod val="115000"/>
                    </a:schemeClr>
                  </a:gs>
                  <a:gs pos="50000">
                    <a:schemeClr val="tx1">
                      <a:shade val="67500"/>
                      <a:satMod val="115000"/>
                    </a:schemeClr>
                  </a:gs>
                  <a:gs pos="100000">
                    <a:schemeClr val="tx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>
                <a:solidFill>
                  <a:schemeClr val="tx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93812F-E906-42BD-A5B7-87523BD1DD51}"/>
                  </a:ext>
                </a:extLst>
              </p:cNvPr>
              <p:cNvSpPr/>
              <p:nvPr/>
            </p:nvSpPr>
            <p:spPr>
              <a:xfrm>
                <a:off x="5303026" y="2798996"/>
                <a:ext cx="1260008" cy="12600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5CFD84-7137-41A8-9CB0-5D2006132C89}"/>
                  </a:ext>
                </a:extLst>
              </p:cNvPr>
              <p:cNvSpPr txBox="1"/>
              <p:nvPr/>
            </p:nvSpPr>
            <p:spPr>
              <a:xfrm>
                <a:off x="3442456" y="5193919"/>
                <a:ext cx="501937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rgbClr val="0070C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Devours everything including light itself.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830E8-9B02-4668-A420-012D1B2AC613}"/>
                  </a:ext>
                </a:extLst>
              </p:cNvPr>
              <p:cNvSpPr txBox="1"/>
              <p:nvPr/>
            </p:nvSpPr>
            <p:spPr>
              <a:xfrm>
                <a:off x="3629152" y="733042"/>
                <a:ext cx="46459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800" dirty="0">
                    <a:ln w="3175">
                      <a:noFill/>
                    </a:ln>
                    <a:solidFill>
                      <a:srgbClr val="0070C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BLACK HOLE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33B3CD-779A-41DB-9036-05506B8C667B}"/>
                  </a:ext>
                </a:extLst>
              </p:cNvPr>
              <p:cNvSpPr txBox="1"/>
              <p:nvPr/>
            </p:nvSpPr>
            <p:spPr>
              <a:xfrm>
                <a:off x="3532365" y="1498904"/>
                <a:ext cx="501937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rgbClr val="0070C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Spectral Class: </a:t>
                </a:r>
                <a:r>
                  <a:rPr lang="en-AU" sz="4000" dirty="0">
                    <a:ln w="3175">
                      <a:noFill/>
                    </a:ln>
                    <a:solidFill>
                      <a:srgbClr val="0070C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?</a:t>
                </a:r>
                <a:endParaRPr lang="en-AU" sz="2800" dirty="0">
                  <a:ln w="3175">
                    <a:noFill/>
                  </a:ln>
                  <a:solidFill>
                    <a:srgbClr val="0070C0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7E7E60E-9208-4BE4-8F8D-EB74F5570C32}"/>
                  </a:ext>
                </a:extLst>
              </p:cNvPr>
              <p:cNvSpPr/>
              <p:nvPr/>
            </p:nvSpPr>
            <p:spPr>
              <a:xfrm rot="734394">
                <a:off x="4046942" y="3483241"/>
                <a:ext cx="3772175" cy="181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shade val="30000"/>
                      <a:satMod val="115000"/>
                    </a:schemeClr>
                  </a:gs>
                  <a:gs pos="50000">
                    <a:schemeClr val="tx1">
                      <a:shade val="67500"/>
                      <a:satMod val="115000"/>
                    </a:schemeClr>
                  </a:gs>
                  <a:gs pos="100000">
                    <a:schemeClr val="tx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>
                <a:solidFill>
                  <a:schemeClr val="tx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</p:grpSp>
        <p:sp>
          <p:nvSpPr>
            <p:cNvPr id="3" name="Moon 2">
              <a:extLst>
                <a:ext uri="{FF2B5EF4-FFF2-40B4-BE49-F238E27FC236}">
                  <a16:creationId xmlns:a16="http://schemas.microsoft.com/office/drawing/2014/main" id="{9FB6D63E-DC5B-498B-A575-A06FFCA81C49}"/>
                </a:ext>
              </a:extLst>
            </p:cNvPr>
            <p:cNvSpPr/>
            <p:nvPr/>
          </p:nvSpPr>
          <p:spPr>
            <a:xfrm rot="13756893">
              <a:off x="5037508" y="2609415"/>
              <a:ext cx="260639" cy="931063"/>
            </a:xfrm>
            <a:prstGeom prst="moon">
              <a:avLst>
                <a:gd name="adj" fmla="val 6960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Moon 11">
              <a:extLst>
                <a:ext uri="{FF2B5EF4-FFF2-40B4-BE49-F238E27FC236}">
                  <a16:creationId xmlns:a16="http://schemas.microsoft.com/office/drawing/2014/main" id="{FDF6E708-4C3E-42BE-AB7E-8F47552B7BC8}"/>
                </a:ext>
              </a:extLst>
            </p:cNvPr>
            <p:cNvSpPr/>
            <p:nvPr/>
          </p:nvSpPr>
          <p:spPr>
            <a:xfrm rot="19444244">
              <a:off x="6721868" y="3046993"/>
              <a:ext cx="193882" cy="853543"/>
            </a:xfrm>
            <a:prstGeom prst="moon">
              <a:avLst>
                <a:gd name="adj" fmla="val 5149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A6BA73-B199-45E7-896B-F9369B945446}"/>
                </a:ext>
              </a:extLst>
            </p:cNvPr>
            <p:cNvGrpSpPr/>
            <p:nvPr/>
          </p:nvGrpSpPr>
          <p:grpSpPr>
            <a:xfrm>
              <a:off x="2816941" y="331836"/>
              <a:ext cx="6046839" cy="6046839"/>
              <a:chOff x="2816942" y="258096"/>
              <a:chExt cx="6046839" cy="6046839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910384A-03EA-40A0-8A43-5E9D02B49BD1}"/>
                  </a:ext>
                </a:extLst>
              </p:cNvPr>
              <p:cNvGrpSpPr/>
              <p:nvPr/>
            </p:nvGrpSpPr>
            <p:grpSpPr>
              <a:xfrm>
                <a:off x="2816942" y="258096"/>
                <a:ext cx="6046839" cy="6046839"/>
                <a:chOff x="2816942" y="405580"/>
                <a:chExt cx="6046839" cy="6046839"/>
              </a:xfrm>
            </p:grpSpPr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2EEF9F4E-D315-4633-9942-8B8E24328419}"/>
                    </a:ext>
                  </a:extLst>
                </p:cNvPr>
                <p:cNvSpPr/>
                <p:nvPr/>
              </p:nvSpPr>
              <p:spPr>
                <a:xfrm>
                  <a:off x="2816942" y="405580"/>
                  <a:ext cx="6046839" cy="6046839"/>
                </a:xfrm>
                <a:prstGeom prst="roundRect">
                  <a:avLst/>
                </a:prstGeom>
                <a:gradFill flip="none" rotWithShape="1">
                  <a:gsLst>
                    <a:gs pos="22000">
                      <a:schemeClr val="bg1">
                        <a:lumMod val="95000"/>
                        <a:lumOff val="5000"/>
                      </a:schemeClr>
                    </a:gs>
                    <a:gs pos="100000">
                      <a:schemeClr val="bg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94EFA3A-F534-4F77-B693-5541437918EE}"/>
                    </a:ext>
                  </a:extLst>
                </p:cNvPr>
                <p:cNvSpPr/>
                <p:nvPr/>
              </p:nvSpPr>
              <p:spPr>
                <a:xfrm>
                  <a:off x="5032626" y="2528595"/>
                  <a:ext cx="1800807" cy="18008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E158D762-52E0-40AB-A362-8DCC3FEDA70F}"/>
                    </a:ext>
                  </a:extLst>
                </p:cNvPr>
                <p:cNvSpPr/>
                <p:nvPr/>
              </p:nvSpPr>
              <p:spPr>
                <a:xfrm>
                  <a:off x="5303026" y="2798996"/>
                  <a:ext cx="1260008" cy="126000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C1AD786-E7B3-4FEA-8A20-6BFD7A11678C}"/>
                    </a:ext>
                  </a:extLst>
                </p:cNvPr>
                <p:cNvSpPr txBox="1"/>
                <p:nvPr/>
              </p:nvSpPr>
              <p:spPr>
                <a:xfrm>
                  <a:off x="3442456" y="5193919"/>
                  <a:ext cx="501937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2800" dirty="0">
                      <a:ln w="3175">
                        <a:solidFill>
                          <a:schemeClr val="accent4">
                            <a:lumMod val="50000"/>
                          </a:schemeClr>
                        </a:solidFill>
                      </a:ln>
                      <a:solidFill>
                        <a:srgbClr val="7030A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Devours everything including light itself.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7F31A2-6A69-4104-9FEA-B3FB0094B7B4}"/>
                    </a:ext>
                  </a:extLst>
                </p:cNvPr>
                <p:cNvSpPr txBox="1"/>
                <p:nvPr/>
              </p:nvSpPr>
              <p:spPr>
                <a:xfrm>
                  <a:off x="3629152" y="733042"/>
                  <a:ext cx="464597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4800" dirty="0">
                      <a:ln w="3175">
                        <a:solidFill>
                          <a:schemeClr val="accent4">
                            <a:lumMod val="50000"/>
                          </a:schemeClr>
                        </a:solidFill>
                      </a:ln>
                      <a:solidFill>
                        <a:srgbClr val="7030A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BLACK HOLE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F5A3129-E9FF-446B-A94B-CB5B96695B06}"/>
                    </a:ext>
                  </a:extLst>
                </p:cNvPr>
                <p:cNvSpPr txBox="1"/>
                <p:nvPr/>
              </p:nvSpPr>
              <p:spPr>
                <a:xfrm>
                  <a:off x="3571372" y="1459441"/>
                  <a:ext cx="5019370" cy="523220"/>
                </a:xfrm>
                <a:prstGeom prst="rect">
                  <a:avLst/>
                </a:prstGeom>
                <a:noFill/>
                <a:scene3d>
                  <a:camera prst="perspectiveAbove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2800" dirty="0">
                      <a:ln w="3175">
                        <a:solidFill>
                          <a:schemeClr val="accent4">
                            <a:lumMod val="50000"/>
                          </a:schemeClr>
                        </a:solidFill>
                      </a:ln>
                      <a:solidFill>
                        <a:srgbClr val="7030A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Spectral Class: </a:t>
                  </a:r>
                  <a:r>
                    <a:rPr lang="en-AU" sz="2800" b="1" dirty="0">
                      <a:ln w="3175">
                        <a:solidFill>
                          <a:schemeClr val="accent4">
                            <a:lumMod val="50000"/>
                          </a:schemeClr>
                        </a:solidFill>
                      </a:ln>
                      <a:solidFill>
                        <a:srgbClr val="7030A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--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1BC67C9F-2860-46C7-9D01-05AF43B2E110}"/>
                    </a:ext>
                  </a:extLst>
                </p:cNvPr>
                <p:cNvSpPr/>
                <p:nvPr/>
              </p:nvSpPr>
              <p:spPr>
                <a:xfrm rot="734394">
                  <a:off x="4046942" y="3483241"/>
                  <a:ext cx="3772175" cy="18168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</p:grpSp>
          <p:sp>
            <p:nvSpPr>
              <p:cNvPr id="21" name="Moon 20">
                <a:extLst>
                  <a:ext uri="{FF2B5EF4-FFF2-40B4-BE49-F238E27FC236}">
                    <a16:creationId xmlns:a16="http://schemas.microsoft.com/office/drawing/2014/main" id="{6F465564-C90A-4342-B091-2503729684E6}"/>
                  </a:ext>
                </a:extLst>
              </p:cNvPr>
              <p:cNvSpPr/>
              <p:nvPr/>
            </p:nvSpPr>
            <p:spPr>
              <a:xfrm rot="13756893">
                <a:off x="5037508" y="2535673"/>
                <a:ext cx="260639" cy="931063"/>
              </a:xfrm>
              <a:prstGeom prst="moon">
                <a:avLst>
                  <a:gd name="adj" fmla="val 6960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2" name="Moon 21">
                <a:extLst>
                  <a:ext uri="{FF2B5EF4-FFF2-40B4-BE49-F238E27FC236}">
                    <a16:creationId xmlns:a16="http://schemas.microsoft.com/office/drawing/2014/main" id="{AD513A12-3757-49A3-BB1A-D8239289A013}"/>
                  </a:ext>
                </a:extLst>
              </p:cNvPr>
              <p:cNvSpPr/>
              <p:nvPr/>
            </p:nvSpPr>
            <p:spPr>
              <a:xfrm rot="19444244">
                <a:off x="6721868" y="2973251"/>
                <a:ext cx="193882" cy="853543"/>
              </a:xfrm>
              <a:prstGeom prst="moon">
                <a:avLst>
                  <a:gd name="adj" fmla="val 5149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707E735-A760-4C92-A677-CA455859607F}"/>
                </a:ext>
              </a:extLst>
            </p:cNvPr>
            <p:cNvSpPr txBox="1"/>
            <p:nvPr/>
          </p:nvSpPr>
          <p:spPr>
            <a:xfrm>
              <a:off x="5238135" y="1722594"/>
              <a:ext cx="13248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3200" b="1" dirty="0">
                  <a:ln w="3175">
                    <a:noFill/>
                  </a:ln>
                  <a:solidFill>
                    <a:srgbClr val="7030A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∞</a:t>
              </a:r>
              <a:r>
                <a:rPr lang="en-AU" sz="2800" dirty="0">
                  <a:ln w="3175">
                    <a:noFill/>
                  </a:ln>
                  <a:solidFill>
                    <a:srgbClr val="7030A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lang="en-AU" sz="2000" dirty="0">
                  <a:ln w="3175">
                    <a:noFill/>
                  </a:ln>
                  <a:solidFill>
                    <a:srgbClr val="7030A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</a:t>
              </a:r>
              <a:r>
                <a:rPr lang="en-AU" sz="2400" dirty="0">
                  <a:ln w="3175">
                    <a:noFill/>
                  </a:ln>
                  <a:solidFill>
                    <a:srgbClr val="7030A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☉</a:t>
              </a:r>
              <a:endParaRPr lang="en-AU" sz="2800" dirty="0">
                <a:ln w="3175">
                  <a:noFill/>
                </a:ln>
                <a:solidFill>
                  <a:srgbClr val="7030A0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8899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EA3267F-F457-4A5D-BF00-B6504AEEC61E}"/>
              </a:ext>
            </a:extLst>
          </p:cNvPr>
          <p:cNvGrpSpPr/>
          <p:nvPr/>
        </p:nvGrpSpPr>
        <p:grpSpPr>
          <a:xfrm>
            <a:off x="2816942" y="331838"/>
            <a:ext cx="6046839" cy="6046839"/>
            <a:chOff x="2816942" y="331838"/>
            <a:chExt cx="6046839" cy="604683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EA014E6-0872-46E9-981D-1D4FE1D0ECC6}"/>
                </a:ext>
              </a:extLst>
            </p:cNvPr>
            <p:cNvGrpSpPr/>
            <p:nvPr/>
          </p:nvGrpSpPr>
          <p:grpSpPr>
            <a:xfrm>
              <a:off x="2816942" y="331838"/>
              <a:ext cx="6046839" cy="6046839"/>
              <a:chOff x="2816942" y="331838"/>
              <a:chExt cx="6046839" cy="6046839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8E91D5A3-1ED3-4748-A6C8-D019ADFA645C}"/>
                  </a:ext>
                </a:extLst>
              </p:cNvPr>
              <p:cNvGrpSpPr/>
              <p:nvPr/>
            </p:nvGrpSpPr>
            <p:grpSpPr>
              <a:xfrm>
                <a:off x="2816942" y="331838"/>
                <a:ext cx="6046839" cy="6046839"/>
                <a:chOff x="2816942" y="405580"/>
                <a:chExt cx="6046839" cy="6046839"/>
              </a:xfrm>
            </p:grpSpPr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DA7545D0-E83D-4AB5-9BB2-8C5BCBDF1E77}"/>
                    </a:ext>
                  </a:extLst>
                </p:cNvPr>
                <p:cNvSpPr/>
                <p:nvPr/>
              </p:nvSpPr>
              <p:spPr>
                <a:xfrm>
                  <a:off x="2816942" y="405580"/>
                  <a:ext cx="6046839" cy="6046839"/>
                </a:xfrm>
                <a:prstGeom prst="roundRect">
                  <a:avLst/>
                </a:prstGeom>
                <a:gradFill flip="none" rotWithShape="1">
                  <a:gsLst>
                    <a:gs pos="100000">
                      <a:schemeClr val="bg1">
                        <a:lumMod val="95000"/>
                        <a:lumOff val="5000"/>
                      </a:schemeClr>
                    </a:gs>
                    <a:gs pos="8000">
                      <a:schemeClr val="bg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1B1D9474-2AC6-4738-82A0-C2DE8F313272}"/>
                    </a:ext>
                  </a:extLst>
                </p:cNvPr>
                <p:cNvSpPr/>
                <p:nvPr/>
              </p:nvSpPr>
              <p:spPr>
                <a:xfrm>
                  <a:off x="5032626" y="2528595"/>
                  <a:ext cx="1800807" cy="180080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shade val="30000"/>
                        <a:satMod val="115000"/>
                      </a:schemeClr>
                    </a:gs>
                    <a:gs pos="50000">
                      <a:schemeClr val="tx1">
                        <a:shade val="67500"/>
                        <a:satMod val="115000"/>
                      </a:schemeClr>
                    </a:gs>
                    <a:gs pos="100000">
                      <a:schemeClr val="tx1">
                        <a:shade val="100000"/>
                        <a:satMod val="115000"/>
                      </a:schemeClr>
                    </a:gs>
                  </a:gsLst>
                  <a:lin ang="13500000" scaled="1"/>
                  <a:tileRect/>
                </a:gradFill>
                <a:ln>
                  <a:solidFill>
                    <a:schemeClr val="tx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F893812F-E906-42BD-A5B7-87523BD1DD51}"/>
                    </a:ext>
                  </a:extLst>
                </p:cNvPr>
                <p:cNvSpPr/>
                <p:nvPr/>
              </p:nvSpPr>
              <p:spPr>
                <a:xfrm>
                  <a:off x="5303026" y="2798996"/>
                  <a:ext cx="1260008" cy="126000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B5CFD84-7137-41A8-9CB0-5D2006132C89}"/>
                    </a:ext>
                  </a:extLst>
                </p:cNvPr>
                <p:cNvSpPr txBox="1"/>
                <p:nvPr/>
              </p:nvSpPr>
              <p:spPr>
                <a:xfrm>
                  <a:off x="3442456" y="5193919"/>
                  <a:ext cx="501937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2800" dirty="0">
                      <a:ln w="3175">
                        <a:noFill/>
                      </a:ln>
                      <a:solidFill>
                        <a:srgbClr val="0070C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Devours everything including light itself.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4A830E8-9B02-4668-A420-012D1B2AC613}"/>
                    </a:ext>
                  </a:extLst>
                </p:cNvPr>
                <p:cNvSpPr txBox="1"/>
                <p:nvPr/>
              </p:nvSpPr>
              <p:spPr>
                <a:xfrm>
                  <a:off x="3629152" y="733042"/>
                  <a:ext cx="464597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4800" dirty="0">
                      <a:ln w="3175">
                        <a:noFill/>
                      </a:ln>
                      <a:solidFill>
                        <a:srgbClr val="0070C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BLACK HOLE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433B3CD-779A-41DB-9036-05506B8C667B}"/>
                    </a:ext>
                  </a:extLst>
                </p:cNvPr>
                <p:cNvSpPr txBox="1"/>
                <p:nvPr/>
              </p:nvSpPr>
              <p:spPr>
                <a:xfrm>
                  <a:off x="3532365" y="1498904"/>
                  <a:ext cx="501937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2800" dirty="0">
                      <a:ln w="3175">
                        <a:noFill/>
                      </a:ln>
                      <a:solidFill>
                        <a:srgbClr val="0070C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Spectral Class: </a:t>
                  </a:r>
                  <a:r>
                    <a:rPr lang="en-AU" sz="4000" dirty="0">
                      <a:ln w="3175">
                        <a:noFill/>
                      </a:ln>
                      <a:solidFill>
                        <a:srgbClr val="0070C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?</a:t>
                  </a:r>
                  <a:endParaRPr lang="en-AU" sz="2800" dirty="0">
                    <a:ln w="3175">
                      <a:noFill/>
                    </a:ln>
                    <a:solidFill>
                      <a:srgbClr val="0070C0"/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7E7E60E-9208-4BE4-8F8D-EB74F5570C32}"/>
                    </a:ext>
                  </a:extLst>
                </p:cNvPr>
                <p:cNvSpPr/>
                <p:nvPr/>
              </p:nvSpPr>
              <p:spPr>
                <a:xfrm rot="734394">
                  <a:off x="4046942" y="3483241"/>
                  <a:ext cx="3772175" cy="18168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shade val="30000"/>
                        <a:satMod val="115000"/>
                      </a:schemeClr>
                    </a:gs>
                    <a:gs pos="50000">
                      <a:schemeClr val="tx1">
                        <a:shade val="67500"/>
                        <a:satMod val="115000"/>
                      </a:schemeClr>
                    </a:gs>
                    <a:gs pos="100000">
                      <a:schemeClr val="tx1">
                        <a:shade val="100000"/>
                        <a:satMod val="115000"/>
                      </a:schemeClr>
                    </a:gs>
                  </a:gsLst>
                  <a:lin ang="13500000" scaled="1"/>
                  <a:tileRect/>
                </a:gradFill>
                <a:ln>
                  <a:solidFill>
                    <a:schemeClr val="tx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</p:grpSp>
          <p:sp>
            <p:nvSpPr>
              <p:cNvPr id="3" name="Moon 2">
                <a:extLst>
                  <a:ext uri="{FF2B5EF4-FFF2-40B4-BE49-F238E27FC236}">
                    <a16:creationId xmlns:a16="http://schemas.microsoft.com/office/drawing/2014/main" id="{9FB6D63E-DC5B-498B-A575-A06FFCA81C49}"/>
                  </a:ext>
                </a:extLst>
              </p:cNvPr>
              <p:cNvSpPr/>
              <p:nvPr/>
            </p:nvSpPr>
            <p:spPr>
              <a:xfrm rot="13756893">
                <a:off x="5037508" y="2609415"/>
                <a:ext cx="260639" cy="931063"/>
              </a:xfrm>
              <a:prstGeom prst="moon">
                <a:avLst>
                  <a:gd name="adj" fmla="val 6960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" name="Moon 11">
                <a:extLst>
                  <a:ext uri="{FF2B5EF4-FFF2-40B4-BE49-F238E27FC236}">
                    <a16:creationId xmlns:a16="http://schemas.microsoft.com/office/drawing/2014/main" id="{FDF6E708-4C3E-42BE-AB7E-8F47552B7BC8}"/>
                  </a:ext>
                </a:extLst>
              </p:cNvPr>
              <p:cNvSpPr/>
              <p:nvPr/>
            </p:nvSpPr>
            <p:spPr>
              <a:xfrm rot="19444244">
                <a:off x="6721868" y="3046993"/>
                <a:ext cx="193882" cy="853543"/>
              </a:xfrm>
              <a:prstGeom prst="moon">
                <a:avLst>
                  <a:gd name="adj" fmla="val 5149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2EEF9F4E-D315-4633-9942-8B8E24328419}"/>
                  </a:ext>
                </a:extLst>
              </p:cNvPr>
              <p:cNvSpPr/>
              <p:nvPr/>
            </p:nvSpPr>
            <p:spPr>
              <a:xfrm>
                <a:off x="2816942" y="331838"/>
                <a:ext cx="6046839" cy="6046839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  <a:lumOff val="5000"/>
                    </a:schemeClr>
                  </a:gs>
                  <a:gs pos="16000">
                    <a:schemeClr val="bg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158D762-52E0-40AB-A362-8DCC3FEDA70F}"/>
                  </a:ext>
                </a:extLst>
              </p:cNvPr>
              <p:cNvSpPr/>
              <p:nvPr/>
            </p:nvSpPr>
            <p:spPr>
              <a:xfrm>
                <a:off x="4844297" y="2416180"/>
                <a:ext cx="2215687" cy="221568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1AD786-E7B3-4FEA-8A20-6BFD7A11678C}"/>
                  </a:ext>
                </a:extLst>
              </p:cNvPr>
              <p:cNvSpPr txBox="1"/>
              <p:nvPr/>
            </p:nvSpPr>
            <p:spPr>
              <a:xfrm>
                <a:off x="3442456" y="5120177"/>
                <a:ext cx="501937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solidFill>
                        <a:schemeClr val="bg1"/>
                      </a:solidFill>
                    </a:ln>
                    <a:latin typeface="Aharoni" panose="02010803020104030203" pitchFamily="2" charset="-79"/>
                    <a:cs typeface="Aharoni" panose="02010803020104030203" pitchFamily="2" charset="-79"/>
                  </a:rPr>
                  <a:t>Keep on playing to discover this star.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7F31A2-6A69-4104-9FEA-B3FB0094B7B4}"/>
                  </a:ext>
                </a:extLst>
              </p:cNvPr>
              <p:cNvSpPr txBox="1"/>
              <p:nvPr/>
            </p:nvSpPr>
            <p:spPr>
              <a:xfrm>
                <a:off x="3966137" y="720666"/>
                <a:ext cx="37484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800" dirty="0">
                    <a:ln w="3175">
                      <a:solidFill>
                        <a:schemeClr val="bg1"/>
                      </a:solidFill>
                    </a:ln>
                    <a:latin typeface="Aharoni" panose="02010803020104030203" pitchFamily="2" charset="-79"/>
                    <a:cs typeface="Aharoni" panose="02010803020104030203" pitchFamily="2" charset="-79"/>
                  </a:rPr>
                  <a:t>UNKNOWN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5A3129-E9FF-446B-A94B-CB5B96695B06}"/>
                  </a:ext>
                </a:extLst>
              </p:cNvPr>
              <p:cNvSpPr txBox="1"/>
              <p:nvPr/>
            </p:nvSpPr>
            <p:spPr>
              <a:xfrm>
                <a:off x="3545591" y="1321716"/>
                <a:ext cx="501937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solidFill>
                        <a:schemeClr val="bg1"/>
                      </a:solidFill>
                    </a:ln>
                    <a:latin typeface="Aharoni" panose="02010803020104030203" pitchFamily="2" charset="-79"/>
                    <a:cs typeface="Aharoni" panose="02010803020104030203" pitchFamily="2" charset="-79"/>
                  </a:rPr>
                  <a:t>Spectral Class: </a:t>
                </a:r>
                <a:r>
                  <a:rPr lang="en-AU" sz="4000" dirty="0">
                    <a:ln w="3175">
                      <a:solidFill>
                        <a:schemeClr val="bg1"/>
                      </a:solidFill>
                    </a:ln>
                    <a:latin typeface="Aharoni" panose="02010803020104030203" pitchFamily="2" charset="-79"/>
                    <a:cs typeface="Aharoni" panose="02010803020104030203" pitchFamily="2" charset="-79"/>
                  </a:rPr>
                  <a:t>?</a:t>
                </a:r>
                <a:endParaRPr lang="en-AU" sz="2800" dirty="0">
                  <a:ln w="3175">
                    <a:solidFill>
                      <a:schemeClr val="bg1"/>
                    </a:solidFill>
                  </a:ln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49F9BB5-0CE7-43CB-9EAB-8B5455D953EA}"/>
                  </a:ext>
                </a:extLst>
              </p:cNvPr>
              <p:cNvSpPr/>
              <p:nvPr/>
            </p:nvSpPr>
            <p:spPr>
              <a:xfrm>
                <a:off x="5872595" y="3585142"/>
                <a:ext cx="143557" cy="14355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6" name="Flowchart: Manual Operation 25">
                <a:extLst>
                  <a:ext uri="{FF2B5EF4-FFF2-40B4-BE49-F238E27FC236}">
                    <a16:creationId xmlns:a16="http://schemas.microsoft.com/office/drawing/2014/main" id="{CE69024A-8F86-487F-97E8-1D2A4C20E44A}"/>
                  </a:ext>
                </a:extLst>
              </p:cNvPr>
              <p:cNvSpPr/>
              <p:nvPr/>
            </p:nvSpPr>
            <p:spPr>
              <a:xfrm rot="10800000">
                <a:off x="5877181" y="3701254"/>
                <a:ext cx="138971" cy="174969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D0CB556-8AE3-43F1-B346-855E1330CDC2}"/>
                </a:ext>
              </a:extLst>
            </p:cNvPr>
            <p:cNvSpPr txBox="1"/>
            <p:nvPr/>
          </p:nvSpPr>
          <p:spPr>
            <a:xfrm>
              <a:off x="5303026" y="1898007"/>
              <a:ext cx="13248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dirty="0">
                  <a:ln w="3175">
                    <a:noFill/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? </a:t>
              </a:r>
              <a:r>
                <a:rPr lang="en-AU" sz="2000" dirty="0">
                  <a:ln w="3175">
                    <a:noFill/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M</a:t>
              </a:r>
              <a:r>
                <a:rPr lang="en-AU" sz="2400" dirty="0">
                  <a:ln w="3175">
                    <a:noFill/>
                  </a:ln>
                  <a:latin typeface="Aharoni" panose="02010803020104030203" pitchFamily="2" charset="-79"/>
                  <a:cs typeface="Aharoni" panose="02010803020104030203" pitchFamily="2" charset="-79"/>
                </a:rPr>
                <a:t>☉</a:t>
              </a:r>
              <a:endParaRPr lang="en-AU" sz="2800" dirty="0">
                <a:ln w="3175">
                  <a:noFill/>
                </a:ln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8605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5B3E434-DE15-4759-A4CB-84BEAAD03F40}"/>
              </a:ext>
            </a:extLst>
          </p:cNvPr>
          <p:cNvGrpSpPr/>
          <p:nvPr/>
        </p:nvGrpSpPr>
        <p:grpSpPr>
          <a:xfrm>
            <a:off x="2311578" y="331838"/>
            <a:ext cx="7090714" cy="6046839"/>
            <a:chOff x="2311578" y="331838"/>
            <a:chExt cx="7090714" cy="604683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EA014E6-0872-46E9-981D-1D4FE1D0ECC6}"/>
                </a:ext>
              </a:extLst>
            </p:cNvPr>
            <p:cNvGrpSpPr/>
            <p:nvPr/>
          </p:nvGrpSpPr>
          <p:grpSpPr>
            <a:xfrm>
              <a:off x="2816942" y="331838"/>
              <a:ext cx="6046839" cy="6046839"/>
              <a:chOff x="2816942" y="331838"/>
              <a:chExt cx="6046839" cy="6046839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8E91D5A3-1ED3-4748-A6C8-D019ADFA645C}"/>
                  </a:ext>
                </a:extLst>
              </p:cNvPr>
              <p:cNvGrpSpPr/>
              <p:nvPr/>
            </p:nvGrpSpPr>
            <p:grpSpPr>
              <a:xfrm>
                <a:off x="2816942" y="331838"/>
                <a:ext cx="6046839" cy="6046839"/>
                <a:chOff x="2816942" y="405580"/>
                <a:chExt cx="6046839" cy="6046839"/>
              </a:xfrm>
            </p:grpSpPr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DA7545D0-E83D-4AB5-9BB2-8C5BCBDF1E77}"/>
                    </a:ext>
                  </a:extLst>
                </p:cNvPr>
                <p:cNvSpPr/>
                <p:nvPr/>
              </p:nvSpPr>
              <p:spPr>
                <a:xfrm>
                  <a:off x="2816942" y="405580"/>
                  <a:ext cx="6046839" cy="6046839"/>
                </a:xfrm>
                <a:prstGeom prst="roundRect">
                  <a:avLst/>
                </a:prstGeom>
                <a:gradFill flip="none" rotWithShape="1">
                  <a:gsLst>
                    <a:gs pos="100000">
                      <a:schemeClr val="bg1">
                        <a:lumMod val="95000"/>
                        <a:lumOff val="5000"/>
                      </a:schemeClr>
                    </a:gs>
                    <a:gs pos="8000">
                      <a:schemeClr val="bg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1B1D9474-2AC6-4738-82A0-C2DE8F313272}"/>
                    </a:ext>
                  </a:extLst>
                </p:cNvPr>
                <p:cNvSpPr/>
                <p:nvPr/>
              </p:nvSpPr>
              <p:spPr>
                <a:xfrm>
                  <a:off x="5032626" y="2528595"/>
                  <a:ext cx="1800807" cy="180080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shade val="30000"/>
                        <a:satMod val="115000"/>
                      </a:schemeClr>
                    </a:gs>
                    <a:gs pos="50000">
                      <a:schemeClr val="tx1">
                        <a:shade val="67500"/>
                        <a:satMod val="115000"/>
                      </a:schemeClr>
                    </a:gs>
                    <a:gs pos="100000">
                      <a:schemeClr val="tx1">
                        <a:shade val="100000"/>
                        <a:satMod val="115000"/>
                      </a:schemeClr>
                    </a:gs>
                  </a:gsLst>
                  <a:lin ang="13500000" scaled="1"/>
                  <a:tileRect/>
                </a:gradFill>
                <a:ln>
                  <a:solidFill>
                    <a:schemeClr val="tx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F893812F-E906-42BD-A5B7-87523BD1DD51}"/>
                    </a:ext>
                  </a:extLst>
                </p:cNvPr>
                <p:cNvSpPr/>
                <p:nvPr/>
              </p:nvSpPr>
              <p:spPr>
                <a:xfrm>
                  <a:off x="5303026" y="2798996"/>
                  <a:ext cx="1260008" cy="126000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B5CFD84-7137-41A8-9CB0-5D2006132C89}"/>
                    </a:ext>
                  </a:extLst>
                </p:cNvPr>
                <p:cNvSpPr txBox="1"/>
                <p:nvPr/>
              </p:nvSpPr>
              <p:spPr>
                <a:xfrm>
                  <a:off x="3442456" y="5193919"/>
                  <a:ext cx="501937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2800" dirty="0">
                      <a:ln w="3175">
                        <a:noFill/>
                      </a:ln>
                      <a:solidFill>
                        <a:srgbClr val="0070C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Devours everything including light itself.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4A830E8-9B02-4668-A420-012D1B2AC613}"/>
                    </a:ext>
                  </a:extLst>
                </p:cNvPr>
                <p:cNvSpPr txBox="1"/>
                <p:nvPr/>
              </p:nvSpPr>
              <p:spPr>
                <a:xfrm>
                  <a:off x="3629152" y="733042"/>
                  <a:ext cx="464597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4800" dirty="0">
                      <a:ln w="3175">
                        <a:noFill/>
                      </a:ln>
                      <a:solidFill>
                        <a:srgbClr val="0070C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BLACK HOLE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433B3CD-779A-41DB-9036-05506B8C667B}"/>
                    </a:ext>
                  </a:extLst>
                </p:cNvPr>
                <p:cNvSpPr txBox="1"/>
                <p:nvPr/>
              </p:nvSpPr>
              <p:spPr>
                <a:xfrm>
                  <a:off x="3532365" y="1498904"/>
                  <a:ext cx="501937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2800" dirty="0">
                      <a:ln w="3175">
                        <a:noFill/>
                      </a:ln>
                      <a:solidFill>
                        <a:srgbClr val="0070C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Spectral Class: </a:t>
                  </a:r>
                  <a:r>
                    <a:rPr lang="en-AU" sz="4000" dirty="0">
                      <a:ln w="3175">
                        <a:noFill/>
                      </a:ln>
                      <a:solidFill>
                        <a:srgbClr val="0070C0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?</a:t>
                  </a:r>
                  <a:endParaRPr lang="en-AU" sz="2800" dirty="0">
                    <a:ln w="3175">
                      <a:noFill/>
                    </a:ln>
                    <a:solidFill>
                      <a:srgbClr val="0070C0"/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7E7E60E-9208-4BE4-8F8D-EB74F5570C32}"/>
                    </a:ext>
                  </a:extLst>
                </p:cNvPr>
                <p:cNvSpPr/>
                <p:nvPr/>
              </p:nvSpPr>
              <p:spPr>
                <a:xfrm rot="734394">
                  <a:off x="4046942" y="3483241"/>
                  <a:ext cx="3772175" cy="18168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shade val="30000"/>
                        <a:satMod val="115000"/>
                      </a:schemeClr>
                    </a:gs>
                    <a:gs pos="50000">
                      <a:schemeClr val="tx1">
                        <a:shade val="67500"/>
                        <a:satMod val="115000"/>
                      </a:schemeClr>
                    </a:gs>
                    <a:gs pos="100000">
                      <a:schemeClr val="tx1">
                        <a:shade val="100000"/>
                        <a:satMod val="115000"/>
                      </a:schemeClr>
                    </a:gs>
                  </a:gsLst>
                  <a:lin ang="13500000" scaled="1"/>
                  <a:tileRect/>
                </a:gradFill>
                <a:ln>
                  <a:solidFill>
                    <a:schemeClr val="tx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</p:grpSp>
          <p:sp>
            <p:nvSpPr>
              <p:cNvPr id="3" name="Moon 2">
                <a:extLst>
                  <a:ext uri="{FF2B5EF4-FFF2-40B4-BE49-F238E27FC236}">
                    <a16:creationId xmlns:a16="http://schemas.microsoft.com/office/drawing/2014/main" id="{9FB6D63E-DC5B-498B-A575-A06FFCA81C49}"/>
                  </a:ext>
                </a:extLst>
              </p:cNvPr>
              <p:cNvSpPr/>
              <p:nvPr/>
            </p:nvSpPr>
            <p:spPr>
              <a:xfrm rot="13756893">
                <a:off x="5037508" y="2609415"/>
                <a:ext cx="260639" cy="931063"/>
              </a:xfrm>
              <a:prstGeom prst="moon">
                <a:avLst>
                  <a:gd name="adj" fmla="val 6960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" name="Moon 11">
                <a:extLst>
                  <a:ext uri="{FF2B5EF4-FFF2-40B4-BE49-F238E27FC236}">
                    <a16:creationId xmlns:a16="http://schemas.microsoft.com/office/drawing/2014/main" id="{FDF6E708-4C3E-42BE-AB7E-8F47552B7BC8}"/>
                  </a:ext>
                </a:extLst>
              </p:cNvPr>
              <p:cNvSpPr/>
              <p:nvPr/>
            </p:nvSpPr>
            <p:spPr>
              <a:xfrm rot="19444244">
                <a:off x="6721868" y="3046993"/>
                <a:ext cx="193882" cy="853543"/>
              </a:xfrm>
              <a:prstGeom prst="moon">
                <a:avLst>
                  <a:gd name="adj" fmla="val 5149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2EEF9F4E-D315-4633-9942-8B8E24328419}"/>
                  </a:ext>
                </a:extLst>
              </p:cNvPr>
              <p:cNvSpPr/>
              <p:nvPr/>
            </p:nvSpPr>
            <p:spPr>
              <a:xfrm>
                <a:off x="2816942" y="331838"/>
                <a:ext cx="6046839" cy="6046839"/>
              </a:xfrm>
              <a:prstGeom prst="roundRect">
                <a:avLst/>
              </a:prstGeom>
              <a:gradFill flip="none" rotWithShape="1">
                <a:gsLst>
                  <a:gs pos="100000">
                    <a:schemeClr val="bg1">
                      <a:lumMod val="95000"/>
                      <a:lumOff val="5000"/>
                    </a:schemeClr>
                  </a:gs>
                  <a:gs pos="16000">
                    <a:schemeClr val="bg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1AD786-E7B3-4FEA-8A20-6BFD7A11678C}"/>
                  </a:ext>
                </a:extLst>
              </p:cNvPr>
              <p:cNvSpPr txBox="1"/>
              <p:nvPr/>
            </p:nvSpPr>
            <p:spPr>
              <a:xfrm>
                <a:off x="3442456" y="5120177"/>
                <a:ext cx="501937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n w="3175">
                      <a:noFill/>
                    </a:ln>
                    <a:solidFill>
                      <a:srgbClr val="E844CD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An incredibly catastrophic stellar explosion.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7F31A2-6A69-4104-9FEA-B3FB0094B7B4}"/>
                  </a:ext>
                </a:extLst>
              </p:cNvPr>
              <p:cNvSpPr txBox="1"/>
              <p:nvPr/>
            </p:nvSpPr>
            <p:spPr>
              <a:xfrm>
                <a:off x="3900751" y="662016"/>
                <a:ext cx="389475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800" dirty="0">
                    <a:ln w="3175">
                      <a:noFill/>
                    </a:ln>
                    <a:solidFill>
                      <a:srgbClr val="E844CD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SUPERNOVA</a:t>
                </a:r>
              </a:p>
            </p:txBody>
          </p:sp>
        </p:grpSp>
        <p:sp>
          <p:nvSpPr>
            <p:cNvPr id="6" name="Chord 5">
              <a:extLst>
                <a:ext uri="{FF2B5EF4-FFF2-40B4-BE49-F238E27FC236}">
                  <a16:creationId xmlns:a16="http://schemas.microsoft.com/office/drawing/2014/main" id="{5EC6422C-90CC-447A-978A-42FAA1BA9518}"/>
                </a:ext>
              </a:extLst>
            </p:cNvPr>
            <p:cNvSpPr/>
            <p:nvPr/>
          </p:nvSpPr>
          <p:spPr>
            <a:xfrm rot="10800000">
              <a:off x="2311578" y="2043653"/>
              <a:ext cx="3535490" cy="2623205"/>
            </a:xfrm>
            <a:prstGeom prst="chord">
              <a:avLst>
                <a:gd name="adj1" fmla="val 2700000"/>
                <a:gd name="adj2" fmla="val 18900852"/>
              </a:avLst>
            </a:prstGeom>
            <a:gradFill flip="none" rotWithShape="1">
              <a:gsLst>
                <a:gs pos="100000">
                  <a:srgbClr val="8E1C7C">
                    <a:alpha val="0"/>
                  </a:srgbClr>
                </a:gs>
                <a:gs pos="25000">
                  <a:schemeClr val="accent4">
                    <a:lumMod val="75000"/>
                  </a:schemeClr>
                </a:gs>
                <a:gs pos="0">
                  <a:srgbClr val="E844CD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24" name="Chord 23">
              <a:extLst>
                <a:ext uri="{FF2B5EF4-FFF2-40B4-BE49-F238E27FC236}">
                  <a16:creationId xmlns:a16="http://schemas.microsoft.com/office/drawing/2014/main" id="{F189277B-C5CB-4AD5-BD29-1EEB6E71D0AA}"/>
                </a:ext>
              </a:extLst>
            </p:cNvPr>
            <p:cNvSpPr/>
            <p:nvPr/>
          </p:nvSpPr>
          <p:spPr>
            <a:xfrm>
              <a:off x="5952141" y="2040937"/>
              <a:ext cx="3450151" cy="2559887"/>
            </a:xfrm>
            <a:prstGeom prst="chord">
              <a:avLst>
                <a:gd name="adj1" fmla="val 2700000"/>
                <a:gd name="adj2" fmla="val 18900852"/>
              </a:avLst>
            </a:prstGeom>
            <a:gradFill flip="none" rotWithShape="1">
              <a:gsLst>
                <a:gs pos="100000">
                  <a:srgbClr val="8E1C7C">
                    <a:alpha val="0"/>
                  </a:srgbClr>
                </a:gs>
                <a:gs pos="25000">
                  <a:schemeClr val="accent4">
                    <a:lumMod val="75000"/>
                  </a:schemeClr>
                </a:gs>
                <a:gs pos="0">
                  <a:srgbClr val="E844CD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27" name="Flowchart: Collate 26">
              <a:extLst>
                <a:ext uri="{FF2B5EF4-FFF2-40B4-BE49-F238E27FC236}">
                  <a16:creationId xmlns:a16="http://schemas.microsoft.com/office/drawing/2014/main" id="{C332BA96-0F0A-4783-8F9E-A47E2C0EFF83}"/>
                </a:ext>
              </a:extLst>
            </p:cNvPr>
            <p:cNvSpPr/>
            <p:nvPr/>
          </p:nvSpPr>
          <p:spPr>
            <a:xfrm>
              <a:off x="5625962" y="1841479"/>
              <a:ext cx="547285" cy="2846439"/>
            </a:xfrm>
            <a:prstGeom prst="flowChartCollate">
              <a:avLst/>
            </a:prstGeom>
            <a:gradFill flip="none" rotWithShape="1">
              <a:gsLst>
                <a:gs pos="100000">
                  <a:srgbClr val="FFFFFF">
                    <a:alpha val="0"/>
                  </a:srgbClr>
                </a:gs>
                <a:gs pos="34000">
                  <a:srgbClr val="E844CD"/>
                </a:gs>
                <a:gs pos="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725B8F5-AA9E-4C67-BB96-7CF63BB9A804}"/>
                </a:ext>
              </a:extLst>
            </p:cNvPr>
            <p:cNvSpPr/>
            <p:nvPr/>
          </p:nvSpPr>
          <p:spPr>
            <a:xfrm>
              <a:off x="5768234" y="3166260"/>
              <a:ext cx="262740" cy="2627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40924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icture containing device, clock&#10;&#10;Description automatically generated">
            <a:extLst>
              <a:ext uri="{FF2B5EF4-FFF2-40B4-BE49-F238E27FC236}">
                <a16:creationId xmlns:a16="http://schemas.microsoft.com/office/drawing/2014/main" id="{45757C21-7415-4FA4-8593-C83462B51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86" y="2426077"/>
            <a:ext cx="2007866" cy="2005846"/>
          </a:xfrm>
          <a:prstGeom prst="rect">
            <a:avLst/>
          </a:prstGeom>
        </p:spPr>
      </p:pic>
      <p:pic>
        <p:nvPicPr>
          <p:cNvPr id="31" name="Picture 30" descr="A picture containing device, computer&#10;&#10;Description automatically generated">
            <a:extLst>
              <a:ext uri="{FF2B5EF4-FFF2-40B4-BE49-F238E27FC236}">
                <a16:creationId xmlns:a16="http://schemas.microsoft.com/office/drawing/2014/main" id="{73CE8EFA-162C-4103-B05E-54D4473AC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51" y="4752410"/>
            <a:ext cx="1414535" cy="1413112"/>
          </a:xfrm>
          <a:prstGeom prst="rect">
            <a:avLst/>
          </a:prstGeom>
        </p:spPr>
      </p:pic>
      <p:pic>
        <p:nvPicPr>
          <p:cNvPr id="33" name="Picture 32" descr="A picture containing device&#10;&#10;Description automatically generated">
            <a:extLst>
              <a:ext uri="{FF2B5EF4-FFF2-40B4-BE49-F238E27FC236}">
                <a16:creationId xmlns:a16="http://schemas.microsoft.com/office/drawing/2014/main" id="{DCB28492-3959-4228-982E-B9034B2F3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585" y="4622968"/>
            <a:ext cx="1524154" cy="1542554"/>
          </a:xfrm>
          <a:prstGeom prst="rect">
            <a:avLst/>
          </a:prstGeom>
        </p:spPr>
      </p:pic>
      <p:pic>
        <p:nvPicPr>
          <p:cNvPr id="35" name="Picture 34" descr="A close up of a stereo&#10;&#10;Description automatically generated">
            <a:extLst>
              <a:ext uri="{FF2B5EF4-FFF2-40B4-BE49-F238E27FC236}">
                <a16:creationId xmlns:a16="http://schemas.microsoft.com/office/drawing/2014/main" id="{5F3E04A7-0F64-47A4-A93B-466C33194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585" y="2698123"/>
            <a:ext cx="1524154" cy="1542554"/>
          </a:xfrm>
          <a:prstGeom prst="rect">
            <a:avLst/>
          </a:prstGeom>
        </p:spPr>
      </p:pic>
      <p:pic>
        <p:nvPicPr>
          <p:cNvPr id="37" name="Picture 36" descr="A picture containing electronics, device, phone&#10;&#10;Description automatically generated">
            <a:extLst>
              <a:ext uri="{FF2B5EF4-FFF2-40B4-BE49-F238E27FC236}">
                <a16:creationId xmlns:a16="http://schemas.microsoft.com/office/drawing/2014/main" id="{8DFF0B49-AE30-4535-856F-A8BA0F6789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613" y="2698123"/>
            <a:ext cx="1524155" cy="1542555"/>
          </a:xfrm>
          <a:prstGeom prst="rect">
            <a:avLst/>
          </a:prstGeom>
        </p:spPr>
      </p:pic>
      <p:pic>
        <p:nvPicPr>
          <p:cNvPr id="39" name="Picture 38" descr="A picture containing device&#10;&#10;Description automatically generated">
            <a:extLst>
              <a:ext uri="{FF2B5EF4-FFF2-40B4-BE49-F238E27FC236}">
                <a16:creationId xmlns:a16="http://schemas.microsoft.com/office/drawing/2014/main" id="{643701C5-6966-48B2-9E94-C91BB04006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614" y="4622968"/>
            <a:ext cx="1524154" cy="1542554"/>
          </a:xfrm>
          <a:prstGeom prst="rect">
            <a:avLst/>
          </a:prstGeom>
        </p:spPr>
      </p:pic>
      <p:pic>
        <p:nvPicPr>
          <p:cNvPr id="41" name="Picture 40" descr="A close up of a sign&#10;&#10;Description automatically generated">
            <a:extLst>
              <a:ext uri="{FF2B5EF4-FFF2-40B4-BE49-F238E27FC236}">
                <a16:creationId xmlns:a16="http://schemas.microsoft.com/office/drawing/2014/main" id="{B8860624-DA89-4F04-8EFD-25A97B9614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643" y="4622968"/>
            <a:ext cx="1524154" cy="1542554"/>
          </a:xfrm>
          <a:prstGeom prst="rect">
            <a:avLst/>
          </a:prstGeom>
        </p:spPr>
      </p:pic>
      <p:pic>
        <p:nvPicPr>
          <p:cNvPr id="43" name="Picture 42" descr="A picture containing book, device&#10;&#10;Description automatically generated">
            <a:extLst>
              <a:ext uri="{FF2B5EF4-FFF2-40B4-BE49-F238E27FC236}">
                <a16:creationId xmlns:a16="http://schemas.microsoft.com/office/drawing/2014/main" id="{8DC614AC-AAEC-4696-88F6-0923865534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672" y="4622968"/>
            <a:ext cx="1524154" cy="1542554"/>
          </a:xfrm>
          <a:prstGeom prst="rect">
            <a:avLst/>
          </a:prstGeom>
        </p:spPr>
      </p:pic>
      <p:pic>
        <p:nvPicPr>
          <p:cNvPr id="45" name="Picture 44" descr="A picture containing electronics, device&#10;&#10;Description automatically generated">
            <a:extLst>
              <a:ext uri="{FF2B5EF4-FFF2-40B4-BE49-F238E27FC236}">
                <a16:creationId xmlns:a16="http://schemas.microsoft.com/office/drawing/2014/main" id="{1BBE9880-58ED-48C8-9272-E8382AE67D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584" y="883522"/>
            <a:ext cx="1524155" cy="1542555"/>
          </a:xfrm>
          <a:prstGeom prst="rect">
            <a:avLst/>
          </a:prstGeom>
        </p:spPr>
      </p:pic>
      <p:pic>
        <p:nvPicPr>
          <p:cNvPr id="47" name="Picture 46" descr="A picture containing computer&#10;&#10;Description automatically generated">
            <a:extLst>
              <a:ext uri="{FF2B5EF4-FFF2-40B4-BE49-F238E27FC236}">
                <a16:creationId xmlns:a16="http://schemas.microsoft.com/office/drawing/2014/main" id="{EB86F9D0-8956-42D4-A86A-EEA4A80705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754" y="4642900"/>
            <a:ext cx="1524155" cy="1522622"/>
          </a:xfrm>
          <a:prstGeom prst="rect">
            <a:avLst/>
          </a:prstGeom>
        </p:spPr>
      </p:pic>
      <p:pic>
        <p:nvPicPr>
          <p:cNvPr id="49" name="Picture 48" descr="A screenshot of a cell phone&#10;&#10;Description automatically generated">
            <a:extLst>
              <a:ext uri="{FF2B5EF4-FFF2-40B4-BE49-F238E27FC236}">
                <a16:creationId xmlns:a16="http://schemas.microsoft.com/office/drawing/2014/main" id="{DBCA8531-7A9E-463D-B821-67613846FF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672" y="2698123"/>
            <a:ext cx="1544108" cy="1542555"/>
          </a:xfrm>
          <a:prstGeom prst="rect">
            <a:avLst/>
          </a:prstGeom>
        </p:spPr>
      </p:pic>
      <p:pic>
        <p:nvPicPr>
          <p:cNvPr id="51" name="Picture 50" descr="A picture containing food&#10;&#10;Description automatically generated">
            <a:extLst>
              <a:ext uri="{FF2B5EF4-FFF2-40B4-BE49-F238E27FC236}">
                <a16:creationId xmlns:a16="http://schemas.microsoft.com/office/drawing/2014/main" id="{6F0718B9-4D5D-4FC7-BA25-1FBDC80D53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643" y="883522"/>
            <a:ext cx="1542555" cy="1542555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B8FD4DF-52EF-4083-A4AB-7C880A17144B}"/>
              </a:ext>
            </a:extLst>
          </p:cNvPr>
          <p:cNvCxnSpPr>
            <a:stCxn id="29" idx="3"/>
            <a:endCxn id="45" idx="1"/>
          </p:cNvCxnSpPr>
          <p:nvPr/>
        </p:nvCxnSpPr>
        <p:spPr>
          <a:xfrm flipV="1">
            <a:off x="2391652" y="1654800"/>
            <a:ext cx="582932" cy="1774200"/>
          </a:xfrm>
          <a:prstGeom prst="straightConnector1">
            <a:avLst/>
          </a:prstGeom>
          <a:ln w="38100">
            <a:solidFill>
              <a:srgbClr val="E844C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0CF504C-60AE-49CA-B4F2-72777BFBE014}"/>
              </a:ext>
            </a:extLst>
          </p:cNvPr>
          <p:cNvCxnSpPr>
            <a:stCxn id="29" idx="3"/>
            <a:endCxn id="35" idx="1"/>
          </p:cNvCxnSpPr>
          <p:nvPr/>
        </p:nvCxnSpPr>
        <p:spPr>
          <a:xfrm>
            <a:off x="2391652" y="3429000"/>
            <a:ext cx="582933" cy="40400"/>
          </a:xfrm>
          <a:prstGeom prst="straightConnector1">
            <a:avLst/>
          </a:prstGeom>
          <a:ln w="38100">
            <a:solidFill>
              <a:srgbClr val="E844C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25376B4-6C91-4FF5-B772-80F0EAC5F665}"/>
              </a:ext>
            </a:extLst>
          </p:cNvPr>
          <p:cNvCxnSpPr>
            <a:stCxn id="29" idx="3"/>
            <a:endCxn id="33" idx="1"/>
          </p:cNvCxnSpPr>
          <p:nvPr/>
        </p:nvCxnSpPr>
        <p:spPr>
          <a:xfrm>
            <a:off x="2391652" y="3429000"/>
            <a:ext cx="582933" cy="1965245"/>
          </a:xfrm>
          <a:prstGeom prst="straightConnector1">
            <a:avLst/>
          </a:prstGeom>
          <a:ln w="38100">
            <a:solidFill>
              <a:srgbClr val="E844C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D20FC58-B38A-496B-98C7-2DFDB21E3F20}"/>
              </a:ext>
            </a:extLst>
          </p:cNvPr>
          <p:cNvCxnSpPr>
            <a:stCxn id="45" idx="3"/>
            <a:endCxn id="51" idx="1"/>
          </p:cNvCxnSpPr>
          <p:nvPr/>
        </p:nvCxnSpPr>
        <p:spPr>
          <a:xfrm>
            <a:off x="4498739" y="1654800"/>
            <a:ext cx="1913904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4FCE220-AF08-4FE5-B7DF-9B6647D45B41}"/>
              </a:ext>
            </a:extLst>
          </p:cNvPr>
          <p:cNvCxnSpPr/>
          <p:nvPr/>
        </p:nvCxnSpPr>
        <p:spPr>
          <a:xfrm>
            <a:off x="6217768" y="3429000"/>
            <a:ext cx="1913904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790EFF5-EA34-4841-ABE5-FFB87E1425FC}"/>
              </a:ext>
            </a:extLst>
          </p:cNvPr>
          <p:cNvCxnSpPr>
            <a:cxnSpLocks/>
            <a:stCxn id="43" idx="3"/>
            <a:endCxn id="47" idx="1"/>
          </p:cNvCxnSpPr>
          <p:nvPr/>
        </p:nvCxnSpPr>
        <p:spPr>
          <a:xfrm>
            <a:off x="9655826" y="5394245"/>
            <a:ext cx="925928" cy="9966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504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3C7EC4-D63A-4C4A-A12C-F352E7CEE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210" y="1934578"/>
            <a:ext cx="1402397" cy="14181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D4D1EF-74CA-44BC-A6C9-6595B2E63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210" y="3561735"/>
            <a:ext cx="1418157" cy="14022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6B4ECE-3E1F-4CB5-A247-3D219DFA3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210" y="5156851"/>
            <a:ext cx="1402397" cy="14023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7DE6B5-0782-4959-80F9-72B74D1F5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211" y="307421"/>
            <a:ext cx="1434091" cy="14181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9CCFEE-C269-40AA-8935-E5A5D50D56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830" y="5187708"/>
            <a:ext cx="1417955" cy="1386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841601-7D2D-4C62-9D3F-5AFEC91A31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808" y="3576484"/>
            <a:ext cx="1434091" cy="1402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DE648E-B805-4A7B-8D4B-D3A877E7E3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808" y="1949326"/>
            <a:ext cx="1418156" cy="14181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CAD5C1-D221-47BD-B5D5-2E63512F1D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808" y="322168"/>
            <a:ext cx="1402222" cy="14181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C11BD1-56F8-4155-9146-61FF55995B86}"/>
              </a:ext>
            </a:extLst>
          </p:cNvPr>
          <p:cNvSpPr txBox="1"/>
          <p:nvPr/>
        </p:nvSpPr>
        <p:spPr>
          <a:xfrm rot="10800000" flipH="1" flipV="1">
            <a:off x="2639960" y="322168"/>
            <a:ext cx="3175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lightest element, hydrogen makes up 90% of all atoms in the universe and is the primary fuel for fusion within stars.</a:t>
            </a:r>
            <a:endParaRPr lang="en-A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0C4106-D359-4774-86D5-7159E15A5321}"/>
              </a:ext>
            </a:extLst>
          </p:cNvPr>
          <p:cNvSpPr txBox="1"/>
          <p:nvPr/>
        </p:nvSpPr>
        <p:spPr>
          <a:xfrm rot="10800000" flipH="1" flipV="1">
            <a:off x="2639960" y="1934578"/>
            <a:ext cx="3175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Deuterium, also known as ‘heavy hydrogen’ is created when two protons fuse releasing a positron.</a:t>
            </a:r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8C5D72-F99D-4315-BC20-9AA9F128BB88}"/>
              </a:ext>
            </a:extLst>
          </p:cNvPr>
          <p:cNvSpPr txBox="1"/>
          <p:nvPr/>
        </p:nvSpPr>
        <p:spPr>
          <a:xfrm rot="10800000" flipH="1" flipV="1">
            <a:off x="2639960" y="3561735"/>
            <a:ext cx="3175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Created when deuterium nuclei fuse with protons. It is a possible form of fusion fuel in reactors on Earth.</a:t>
            </a:r>
            <a:endParaRPr lang="en-A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9BF3DF-D258-49E5-A0FF-911F0391905A}"/>
              </a:ext>
            </a:extLst>
          </p:cNvPr>
          <p:cNvSpPr txBox="1"/>
          <p:nvPr/>
        </p:nvSpPr>
        <p:spPr>
          <a:xfrm rot="10800000" flipH="1" flipV="1">
            <a:off x="2639959" y="5156852"/>
            <a:ext cx="3175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nucleus of helium-4 is known as an alpha particle and can fuse with almost any other nucleus element.</a:t>
            </a:r>
            <a:endParaRPr lang="en-A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76BA9D-3A4C-4351-A5C7-E54424F667EC}"/>
              </a:ext>
            </a:extLst>
          </p:cNvPr>
          <p:cNvSpPr txBox="1"/>
          <p:nvPr/>
        </p:nvSpPr>
        <p:spPr>
          <a:xfrm rot="10800000" flipH="1" flipV="1">
            <a:off x="8054362" y="322169"/>
            <a:ext cx="3175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Formed by the triple alpha-process, carbon fuses into oxygen which becomes neon. It is also a part of the CNO cycle.</a:t>
            </a:r>
            <a:endParaRPr lang="en-A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5753E8-ED01-4A6F-BCA8-E11DB6C44F00}"/>
              </a:ext>
            </a:extLst>
          </p:cNvPr>
          <p:cNvSpPr txBox="1"/>
          <p:nvPr/>
        </p:nvSpPr>
        <p:spPr>
          <a:xfrm rot="10800000" flipH="1" flipV="1">
            <a:off x="8054362" y="1934579"/>
            <a:ext cx="3175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noble gas like helium, Neon forms oxygen when hit with a gamma ray, or magnesium fusing with an alpha particle.</a:t>
            </a:r>
            <a:endParaRPr lang="en-A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FE5FCF-1DD6-4A2F-BDEA-E4373AA5593D}"/>
              </a:ext>
            </a:extLst>
          </p:cNvPr>
          <p:cNvSpPr txBox="1"/>
          <p:nvPr/>
        </p:nvSpPr>
        <p:spPr>
          <a:xfrm rot="10800000" flipH="1" flipV="1">
            <a:off x="8054362" y="3546986"/>
            <a:ext cx="3175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Although lighter than Neon, Oxygen fuses later due to its doubly-magic nucleus, mostly producing silicon and sulfur.</a:t>
            </a:r>
            <a:endParaRPr lang="en-A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DD4184-7624-430C-A7A0-59D329E0CAB5}"/>
              </a:ext>
            </a:extLst>
          </p:cNvPr>
          <p:cNvSpPr txBox="1"/>
          <p:nvPr/>
        </p:nvSpPr>
        <p:spPr>
          <a:xfrm rot="10800000" flipH="1" flipV="1">
            <a:off x="7964127" y="5156852"/>
            <a:ext cx="3175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Fuses with alpha particles to climb the ‘alpha-ladder’ to iron, in temperatures hot enough to cause photodisintegration.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7925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1297</TotalTime>
  <Words>469</Words>
  <Application>Microsoft Office PowerPoint</Application>
  <PresentationFormat>Widescreen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Aharoni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Ulban Adhikary</dc:creator>
  <cp:lastModifiedBy>Ulban Adhikary</cp:lastModifiedBy>
  <cp:revision>61</cp:revision>
  <dcterms:created xsi:type="dcterms:W3CDTF">2019-12-10T00:15:48Z</dcterms:created>
  <dcterms:modified xsi:type="dcterms:W3CDTF">2020-05-05T11:56:47Z</dcterms:modified>
</cp:coreProperties>
</file>